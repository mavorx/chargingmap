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custDataLst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467F5F-A2F6-D5B5-8542-B8FAA38D685F}" name="Keisha Ridwan" initials="KR" userId="S::keisha.ridwan@landorandfitch.com::b5d18e47-bc42-422a-a197-fcf3ca4d761f" providerId="AD"/>
  <p188:author id="{2280EC83-09D8-1224-3497-567025AB73F7}" name="Kristin Panes" initials="" userId="S::Kristin.Panes@landorandfitch.com::1092eef3-c05f-4456-bc5d-f4aea8e73c4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8" autoAdjust="0"/>
    <p:restoredTop sz="94643"/>
  </p:normalViewPr>
  <p:slideViewPr>
    <p:cSldViewPr snapToGrid="0">
      <p:cViewPr varScale="1">
        <p:scale>
          <a:sx n="74" d="100"/>
          <a:sy n="74" d="100"/>
        </p:scale>
        <p:origin x="1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78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Relationship Id="rId84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/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/>
        </p:txBody>
      </p:sp>
    </p:spTree>
    <p:extLst>
      <p:ext uri="{BB962C8B-B14F-4D97-AF65-F5344CB8AC3E}">
        <p14:creationId xmlns:p14="http://schemas.microsoft.com/office/powerpoint/2010/main" val="630998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项目定位：Vue + Pinia + 高德地图的充电服务演示，不控制真实设备、不发生真实扣款。</a:t>
            </a:r>
          </a:p>
          <a:p>
            <a:r>
              <a:t>A front-end EV charging demo, not a live operator platform. Screenshots were captured locally in Edge with the real AMap SDK.</a:t>
            </a:r>
          </a:p>
          <a:p>
            <a:r>
              <a:t>本稿直接使用用户提供的 VCTC Template_Rise Up.potx，保留原始母版、封面曲线、右上角公司字标和左下角 RISE UP 标识；不分发模板原件、手册页或字体文件。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贯穿找站、组合筛选、详情、预约、明确选桩、接枪检测、充电、停止、拔枪、账单、支付与自愿评价。</a:t>
            </a:r>
          </a:p>
          <a:p>
            <a:r>
              <a:t>用户返回地图后仍能恢复当前会话；刷新恢复已保存状态并提示中断，不补算离线充电。</a:t>
            </a:r>
          </a:p>
          <a:p>
            <a:r>
              <a:t>End-to-end browser tests exercise the real UI controls. Payments, rewards and records remain local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图中直接绘制仓库内上海 1500 个模拟坐标及近似道路，右侧为中心城区局部；不是测绘数据或真实 POI。</a:t>
            </a:r>
          </a:p>
          <a:p>
            <a:r>
              <a:t>生成器按道路分段长度、道路权重、多中心需求高斯叠加与连续街区噪声抽样，并偏移到道路两侧 35–180 米的假设停车区域。</a:t>
            </a:r>
          </a:p>
          <a:p>
            <a:r>
              <a:t>110 米只防近乎重叠，不是目标间距。任一站点 250 米内最多 5 站（含自身），不为凑数量放宽约束。</a:t>
            </a:r>
          </a:p>
          <a:p>
            <a:r>
              <a:t>Sources: scripts/shanghai-layout.mjs, scripts/shanghai-demand.mjs, scripts/shanghai-roads.mjs; data-generation.spec.js.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默认 seed=42，上海 1500 站、合肥 500 站；两个地区使用独立的随机流。相同参数重复运行逐字节一致，上海数量变化不影响合肥数据。</a:t>
            </a:r>
          </a:p>
          <a:p>
            <a:r>
              <a:t>轻量列表先加载，详情按 stationId 推导到 [sh-]part-NN.json；每片 100 站，Promise 级缓存合并并发请求，失败可重试。</a:t>
            </a:r>
          </a:p>
          <a:p>
            <a:r>
              <a:t>The '1' describes a shared concurrent request per detail shard, not one network request for the whole app.</a:t>
            </a:r>
          </a:p>
          <a:p>
            <a:r>
              <a:t>Sources: generate_stations.js, src/services/api.js, data-generation.spec.js, api-details-cache.spec.js.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技术方案：固定复用 amap://styles/dark 和同一个地图实例，白天仅对底图 canvas 做局部 CSS 明暗合成。不是逐次调用 setMapStyle，也没有另一张隐藏地图。</a:t>
            </a:r>
          </a:p>
          <a:p>
            <a:r>
              <a:t>DOM 标记、信息窗及版权区域不随底图反色。相机、标记节点和测试折线保持不变。</a:t>
            </a:r>
          </a:p>
          <a:p>
            <a:r>
              <a:t>本轮 Edge 实测：1440×1000 与 390×844 各连续切换 8 次，并阻断远程样式/瓦片服务后再切换；新增相应请求为 0。</a:t>
            </a:r>
          </a:p>
          <a:p>
            <a:r>
              <a:t>This is a local compositing approach, not two independent AMap styles. Two-frame observations are environment-dependent, not a frame-rate guarantee. Test polyline retention does not revalidate the live driving API.</a:t>
            </a:r>
          </a:p>
          <a:p>
            <a:r>
              <a:t>Sources: src/components/map/MapView.vue, map-theme.spec.js, scripts/capture-presentation.mjs, TEST_REPORT.md.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搜索针对全部站点的站名/地址，支持中英关键词；再按地图视野与分页展示。所有入口共享同一搜索与筛选状态。</a:t>
            </a:r>
          </a:p>
          <a:p>
            <a:r>
              <a:t>150ms 防抖合并视野更新；可用枪数变化也会同步筛选成员、标记与聚合总数。</a:t>
            </a:r>
          </a:p>
          <a:p>
            <a:r>
              <a:t>本轮修复了 AMap 重用标记时点击回调叠加、旧站点绑定，以及可用数变化未更新聚合/筛选标记的问题。</a:t>
            </a:r>
          </a:p>
          <a:p>
            <a:r>
              <a:t>Desktop list collapse and expansion remain on the left; selected details stay in the left pane.</a:t>
            </a:r>
          </a:p>
          <a:p>
            <a:r>
              <a:t>Sources: src/store/modules/stations.js, MapView.vue, mapService.js; map-markers.spec.js, viewport-debounce.spec.js.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只能从用户明确选择的充电桩开始。插枪确认后才执行虚拟设备连接检测与启动，并检查车辆接口、容量、功率和目标电量。</a:t>
            </a:r>
          </a:p>
          <a:p>
            <a:r>
              <a:t>达到目标或用户结束时请求停止；停止应答前仍保持 charging/stopping 保护，禁止拔枪或结算。停止后仍占用枪位，拔枪才释放并进入账单。</a:t>
            </a:r>
          </a:p>
          <a:p>
            <a:r>
              <a:t>本轮修复后台计时器延迟唤醒或停止应答等待导致的目标电量越界：模型只计选定目标内的有效输出电量与时间，仍保留实际经过时间。</a:t>
            </a:r>
          </a:p>
          <a:p>
            <a:r>
              <a:t>The model uses constant limited power for a demo; it does not simulate a production battery charging curve. All hardware acknowledgements are sandbox events.</a:t>
            </a:r>
          </a:p>
          <a:p>
            <a:r>
              <a:t>Sources: chargingModel.js, chargerGateway.js, charging store; charging-target.spec.js and charging-session.spec.js.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中文和英文在渲染时切换，不改写订单中的标准站点、车辆或金额数据；金额仍为人民币。语言与主题保存到当前浏览器。</a:t>
            </a:r>
          </a:p>
          <a:p>
            <a:r>
              <a:t>本轮验证桌面 1440×1000、1024×768 与窄屏 390×844、320×568。九个账户页面复用统一结构，面板提供焦点管理、Esc 与忙碌锁。</a:t>
            </a:r>
          </a:p>
          <a:p>
            <a:r>
              <a:t>Desktop Edge viewport emulation is not a physical phone, Safari, screen-reader, or full WCAG certification.</a:t>
            </a:r>
          </a:p>
          <a:p>
            <a:r>
              <a:t>Sources: src/i18n, AccountPanel.vue, PanelShell.vue, scripts/capture-presentation.mjs, e2e/project.spec.js.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验证日期：2026-10-28。45 个测试文件、427 项单元/组件测试通过；8 条 Playwright 浏览器流程通过。</a:t>
            </a:r>
          </a:p>
          <a:p>
            <a:r>
              <a:t>数据校验：20 个详情分片、2000 站、13 项契约断言。npm 官方源审计已安装依赖：337 个包、0 个已知漏洞。</a:t>
            </a:r>
          </a:p>
          <a:p>
            <a:r>
              <a:t>覆盖率仅统计 store/services：行 89.61%，分支 78.22%，函数 88.70%；不把该范围描述为全项目覆盖率。</a:t>
            </a:r>
          </a:p>
          <a:p>
            <a:r>
              <a:t>真实 SDK 的布局与主题验证另见 TEST_REPORT.md 和 live-review.json。测试通过不是不存在任何缺陷的保证。</a:t>
            </a:r>
          </a:p>
          <a:p>
            <a:r>
              <a:t>No production charger, real payment, physical GPS, or live driving-route acceptance is claimed. CI/deployment state must be checked separately from a local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演示地址：https://mavorx.github.io/ChargingMap/</a:t>
            </a:r>
          </a:p>
          <a:p>
            <a:r>
              <a:t>Repository: https://github.com/mavorx/ChargingMap</a:t>
            </a:r>
          </a:p>
          <a:p>
            <a:r>
              <a:t>在线地址可能仍运行旧部署；本 PPT 的测试与截图来自本轮本地版本。Git 推送不等于 GitHub Pages 已部署。</a:t>
            </a:r>
          </a:p>
          <a:p>
            <a:r>
              <a:t>建议讲解顺序：先看站点与双色地图，再讲数据生成，最后实际演示选桩、插枪、停止、拔枪与支付。</a:t>
            </a:r>
          </a:p>
          <a:p>
            <a:r>
              <a:t>Future work, not current functionality: real operator protocols, payment providers, live availability and server-side accounts.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37ACD30C-AE4D-D643-BEBB-540086980329}"/>
              </a:ext>
            </a:extLst>
          </p:cNvPr>
          <p:cNvSpPr/>
          <p:nvPr userDrawn="1"/>
        </p:nvSpPr>
        <p:spPr bwMode="inv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33000">
                <a:srgbClr val="0D323D"/>
              </a:gs>
              <a:gs pos="85000">
                <a:srgbClr val="002733"/>
              </a:gs>
            </a:gsLst>
            <a:lin ang="20092269" scaled="1"/>
          </a:gradFill>
          <a:ln w="317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6" name="Gradient">
            <a:extLst>
              <a:ext uri="{FF2B5EF4-FFF2-40B4-BE49-F238E27FC236}">
                <a16:creationId xmlns:a16="http://schemas.microsoft.com/office/drawing/2014/main" id="{15FAF419-82CF-79C4-99B5-0BF6855FDF9D}"/>
              </a:ext>
            </a:extLst>
          </p:cNvPr>
          <p:cNvGrpSpPr/>
          <p:nvPr userDrawn="1"/>
        </p:nvGrpSpPr>
        <p:grpSpPr>
          <a:xfrm>
            <a:off x="0" y="2844800"/>
            <a:ext cx="12192000" cy="4014533"/>
            <a:chOff x="0" y="2844800"/>
            <a:chExt cx="12192000" cy="4014533"/>
          </a:xfrm>
        </p:grpSpPr>
        <p:sp>
          <p:nvSpPr>
            <p:cNvPr id="4" name="Graphic">
              <a:extLst>
                <a:ext uri="{FF2B5EF4-FFF2-40B4-BE49-F238E27FC236}">
                  <a16:creationId xmlns:a16="http://schemas.microsoft.com/office/drawing/2014/main" id="{1AECC9FB-EBA7-0480-6BB4-3DD385875749}"/>
                </a:ext>
              </a:extLst>
            </p:cNvPr>
            <p:cNvSpPr/>
            <p:nvPr userDrawn="1"/>
          </p:nvSpPr>
          <p:spPr bwMode="invGray">
            <a:xfrm>
              <a:off x="0" y="2844800"/>
              <a:ext cx="12192000" cy="4014533"/>
            </a:xfrm>
            <a:custGeom>
              <a:avLst/>
              <a:gdLst>
                <a:gd name="connsiteX0" fmla="*/ 4401566 w 12192000"/>
                <a:gd name="connsiteY0" fmla="*/ 2429574 h 4014533"/>
                <a:gd name="connsiteX1" fmla="*/ 0 w 12192000"/>
                <a:gd name="connsiteY1" fmla="*/ 1914462 h 4014533"/>
                <a:gd name="connsiteX2" fmla="*/ 0 w 12192000"/>
                <a:gd name="connsiteY2" fmla="*/ 4014534 h 4014533"/>
                <a:gd name="connsiteX3" fmla="*/ 12192000 w 12192000"/>
                <a:gd name="connsiteY3" fmla="*/ 4014534 h 4014533"/>
                <a:gd name="connsiteX4" fmla="*/ 12192000 w 12192000"/>
                <a:gd name="connsiteY4" fmla="*/ 0 h 4014533"/>
                <a:gd name="connsiteX5" fmla="*/ 4401566 w 12192000"/>
                <a:gd name="connsiteY5" fmla="*/ 2429574 h 4014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000" h="4014533">
                  <a:moveTo>
                    <a:pt x="4401566" y="2429574"/>
                  </a:moveTo>
                  <a:cubicBezTo>
                    <a:pt x="2427827" y="2429574"/>
                    <a:pt x="819023" y="2113820"/>
                    <a:pt x="0" y="1914462"/>
                  </a:cubicBezTo>
                  <a:lnTo>
                    <a:pt x="0" y="4014534"/>
                  </a:lnTo>
                  <a:lnTo>
                    <a:pt x="12192000" y="4014534"/>
                  </a:lnTo>
                  <a:lnTo>
                    <a:pt x="12192000" y="0"/>
                  </a:lnTo>
                  <a:cubicBezTo>
                    <a:pt x="12192000" y="0"/>
                    <a:pt x="11434255" y="2429574"/>
                    <a:pt x="4401566" y="2429574"/>
                  </a:cubicBezTo>
                  <a:close/>
                </a:path>
              </a:pathLst>
            </a:custGeom>
            <a:gradFill>
              <a:gsLst>
                <a:gs pos="37000">
                  <a:srgbClr val="183F49">
                    <a:alpha val="23000"/>
                  </a:srgbClr>
                </a:gs>
                <a:gs pos="24000">
                  <a:srgbClr val="0D323D">
                    <a:alpha val="0"/>
                  </a:srgbClr>
                </a:gs>
                <a:gs pos="53000">
                  <a:srgbClr val="224B55">
                    <a:alpha val="60000"/>
                  </a:srgbClr>
                </a:gs>
                <a:gs pos="72000">
                  <a:srgbClr val="7E989F">
                    <a:alpha val="45000"/>
                  </a:srgbClr>
                </a:gs>
                <a:gs pos="100000">
                  <a:srgbClr val="7E989F"/>
                </a:gs>
              </a:gsLst>
              <a:lin ang="18000000" scaled="0"/>
            </a:gradFill>
            <a:ln w="3175" cap="flat">
              <a:noFill/>
              <a:prstDash val="solid"/>
              <a:miter/>
            </a:ln>
            <a:effectLst>
              <a:softEdge rad="0"/>
            </a:effectLst>
          </p:spPr>
          <p:txBody>
            <a:bodyPr rtlCol="0" anchor="ctr"/>
            <a:lstStyle/>
            <a:p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F5A9A8B6-A95E-BD40-8EDE-595E8D185C89}"/>
                </a:ext>
              </a:extLst>
            </p:cNvPr>
            <p:cNvSpPr/>
            <p:nvPr userDrawn="1"/>
          </p:nvSpPr>
          <p:spPr>
            <a:xfrm>
              <a:off x="0" y="4913200"/>
              <a:ext cx="12192000" cy="1944799"/>
            </a:xfrm>
            <a:prstGeom prst="rect">
              <a:avLst/>
            </a:prstGeom>
            <a:gradFill flip="none" rotWithShape="1">
              <a:gsLst>
                <a:gs pos="14000">
                  <a:srgbClr val="002733">
                    <a:alpha val="0"/>
                  </a:srgbClr>
                </a:gs>
                <a:gs pos="88992">
                  <a:srgbClr val="002733">
                    <a:alpha val="67687"/>
                  </a:srgbClr>
                </a:gs>
                <a:gs pos="100000">
                  <a:srgbClr val="002733">
                    <a:alpha val="75000"/>
                  </a:srgbClr>
                </a:gs>
              </a:gsLst>
              <a:lin ang="5400000" scaled="1"/>
              <a:tileRect/>
            </a:gradFill>
            <a:ln w="317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7" name="Title">
            <a:extLst>
              <a:ext uri="{FF2B5EF4-FFF2-40B4-BE49-F238E27FC236}">
                <a16:creationId xmlns:a16="http://schemas.microsoft.com/office/drawing/2014/main" id="{1BDA358D-9C97-36DC-E4C7-30DB96D4D14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407036" y="1853273"/>
            <a:ext cx="7584964" cy="1218795"/>
          </a:xfrm>
        </p:spPr>
        <p:txBody>
          <a:bodyPr wrap="square" anchor="b">
            <a:sp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10341BB3-674C-660A-A13F-37AA9A04D4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07036" y="3208016"/>
            <a:ext cx="7584964" cy="215444"/>
          </a:xfrm>
        </p:spPr>
        <p:txBody>
          <a:bodyPr wrap="square">
            <a:spAutoFit/>
          </a:bodyPr>
          <a:lstStyle>
            <a:lvl1pPr marL="0" indent="0" algn="l">
              <a:buNone/>
              <a:defRPr sz="1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/>
        </p:txBody>
      </p:sp>
      <p:sp>
        <p:nvSpPr>
          <p:cNvPr id="9" name="Classification">
            <a:extLst>
              <a:ext uri="{FF2B5EF4-FFF2-40B4-BE49-F238E27FC236}">
                <a16:creationId xmlns:a16="http://schemas.microsoft.com/office/drawing/2014/main" id="{6D533CB3-1BA5-DC2F-DFC3-B564E9BE28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black">
          <a:xfrm>
            <a:off x="407036" y="3490530"/>
            <a:ext cx="7589520" cy="184666"/>
          </a:xfrm>
        </p:spPr>
        <p:txBody>
          <a:bodyPr vert="horz" wrap="square" lIns="0" tIns="0" rIns="0" bIns="0" rtlCol="0">
            <a:noAutofit/>
          </a:bodyPr>
          <a:lstStyle>
            <a:lvl1pPr>
              <a:defRPr lang="de-DE" sz="1200" b="0" cap="all" baseline="0" dirty="0" smtClean="0">
                <a:solidFill>
                  <a:schemeClr val="tx1"/>
                </a:solidFill>
              </a:defRPr>
            </a:lvl1pPr>
          </a:lstStyle>
          <a:p/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6956" y="-86146"/>
            <a:ext cx="3760998" cy="1287566"/>
          </a:xfrm>
          <a:prstGeom prst="rect">
            <a:avLst/>
          </a:prstGeom>
        </p:spPr>
      </p:pic>
      <p:pic>
        <p:nvPicPr>
          <p:cNvPr id="2" name="Grafik 2" descr="Ein Bild, das Text, Schrift, Grafiken, Logo enthält.&#10;&#10;KI-generierte Inhalte können fehlerhaft sein.">
            <a:extLst>
              <a:ext uri="{FF2B5EF4-FFF2-40B4-BE49-F238E27FC236}">
                <a16:creationId xmlns:a16="http://schemas.microsoft.com/office/drawing/2014/main" id="{5709ACFC-7166-EC4A-B304-79D560998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8099" y="5960199"/>
            <a:ext cx="1555456" cy="77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3295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 Deep Spac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>
            <a:extLst>
              <a:ext uri="{FF2B5EF4-FFF2-40B4-BE49-F238E27FC236}">
                <a16:creationId xmlns:a16="http://schemas.microsoft.com/office/drawing/2014/main" id="{FB4990DE-24B5-4AE6-09AC-590616E01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/>
        </p:txBody>
      </p:sp>
      <p:sp>
        <p:nvSpPr>
          <p:cNvPr id="7" name="Action Title">
            <a:extLst>
              <a:ext uri="{FF2B5EF4-FFF2-40B4-BE49-F238E27FC236}">
                <a16:creationId xmlns:a16="http://schemas.microsoft.com/office/drawing/2014/main" id="{34DE05B1-E87B-7EAB-D609-1127CFF63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6400" y="1056085"/>
            <a:ext cx="11380751" cy="276999"/>
          </a:xfrm>
        </p:spPr>
        <p:txBody>
          <a:bodyPr wrap="square">
            <a:spAutoFit/>
          </a:bodyPr>
          <a:lstStyle>
            <a:lvl1pPr marL="0">
              <a:spcBef>
                <a:spcPts val="0"/>
              </a:spcBef>
              <a:buFontTx/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5pPr>
          </a:lstStyle>
          <a:p/>
        </p:txBody>
      </p:sp>
      <p:sp>
        <p:nvSpPr>
          <p:cNvPr id="3" name="Content Placeholder ">
            <a:extLst>
              <a:ext uri="{FF2B5EF4-FFF2-40B4-BE49-F238E27FC236}">
                <a16:creationId xmlns:a16="http://schemas.microsoft.com/office/drawing/2014/main" id="{F8D97570-2F9D-830A-47B1-C1CDF14A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Footer Placeholder ">
            <a:extLst>
              <a:ext uri="{FF2B5EF4-FFF2-40B4-BE49-F238E27FC236}">
                <a16:creationId xmlns:a16="http://schemas.microsoft.com/office/drawing/2014/main" id="{A9E250A9-A49D-A6F9-E0E7-26D2AE2C7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Date Placeholder ">
            <a:extLst>
              <a:ext uri="{FF2B5EF4-FFF2-40B4-BE49-F238E27FC236}">
                <a16:creationId xmlns:a16="http://schemas.microsoft.com/office/drawing/2014/main" id="{4261F72A-0630-CE84-E4DD-39B8209E2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/>
        </p:txBody>
      </p:sp>
      <p:sp>
        <p:nvSpPr>
          <p:cNvPr id="6" name="Slide Number Placeholder ">
            <a:extLst>
              <a:ext uri="{FF2B5EF4-FFF2-40B4-BE49-F238E27FC236}">
                <a16:creationId xmlns:a16="http://schemas.microsoft.com/office/drawing/2014/main" id="{E085AA5B-1B83-A681-E18D-36DD3E456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/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4586" y="-20722"/>
            <a:ext cx="2475538" cy="847492"/>
          </a:xfrm>
          <a:prstGeom prst="rect">
            <a:avLst/>
          </a:prstGeom>
        </p:spPr>
      </p:pic>
      <p:pic>
        <p:nvPicPr>
          <p:cNvPr id="8" name="Grafik 4" descr="Ein Bild, das Text, Schrift, Grafiken, Logo enthält.&#10;&#10;KI-generierte Inhalte können fehlerhaft sein.">
            <a:extLst>
              <a:ext uri="{FF2B5EF4-FFF2-40B4-BE49-F238E27FC236}">
                <a16:creationId xmlns:a16="http://schemas.microsoft.com/office/drawing/2014/main" id="{AA226B8F-19C8-A1F8-1237-2C8D0B77AD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8739" y="6322840"/>
            <a:ext cx="989283" cy="491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04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>
            <a:extLst>
              <a:ext uri="{FF2B5EF4-FFF2-40B4-BE49-F238E27FC236}">
                <a16:creationId xmlns:a16="http://schemas.microsoft.com/office/drawing/2014/main" id="{4E5E5570-2155-1B2C-B171-0A3FC154A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/>
        </p:txBody>
      </p:sp>
      <p:sp>
        <p:nvSpPr>
          <p:cNvPr id="6" name="Action Title">
            <a:extLst>
              <a:ext uri="{FF2B5EF4-FFF2-40B4-BE49-F238E27FC236}">
                <a16:creationId xmlns:a16="http://schemas.microsoft.com/office/drawing/2014/main" id="{1940E3AB-3586-C461-1323-6542B7E6C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6400" y="1056085"/>
            <a:ext cx="11380751" cy="276999"/>
          </a:xfrm>
        </p:spPr>
        <p:txBody>
          <a:bodyPr wrap="square">
            <a:spAutoFit/>
          </a:bodyPr>
          <a:lstStyle>
            <a:lvl1pPr marL="0">
              <a:spcBef>
                <a:spcPts val="0"/>
              </a:spcBef>
              <a:buFontTx/>
              <a:buNone/>
              <a:defRPr sz="1800" b="0">
                <a:solidFill>
                  <a:schemeClr val="accent2"/>
                </a:solidFill>
                <a:latin typeface="+mj-lt"/>
              </a:defRPr>
            </a:lvl1pPr>
            <a:lvl2pPr marL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3200" b="0">
                <a:solidFill>
                  <a:schemeClr val="accent2"/>
                </a:solidFill>
              </a:defRPr>
            </a:lvl5pPr>
          </a:lstStyle>
          <a:p/>
        </p:txBody>
      </p:sp>
      <p:sp>
        <p:nvSpPr>
          <p:cNvPr id="8" name="Footer Placeholder ">
            <a:extLst>
              <a:ext uri="{FF2B5EF4-FFF2-40B4-BE49-F238E27FC236}">
                <a16:creationId xmlns:a16="http://schemas.microsoft.com/office/drawing/2014/main" id="{05415EB4-79FA-1E18-AABD-BC3A2B78C85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/>
        </p:txBody>
      </p:sp>
      <p:sp>
        <p:nvSpPr>
          <p:cNvPr id="7" name="Date Placeholder ">
            <a:extLst>
              <a:ext uri="{FF2B5EF4-FFF2-40B4-BE49-F238E27FC236}">
                <a16:creationId xmlns:a16="http://schemas.microsoft.com/office/drawing/2014/main" id="{AF056D49-7F1A-DE55-82B0-F1A9E6B26AD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/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24CBAC6-7084-0110-F57E-D6D4661086F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4957833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al Slide Deep Spac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55D32AC2-2455-4D56-3440-7C9BA8B7F247}"/>
              </a:ext>
            </a:extLst>
          </p:cNvPr>
          <p:cNvSpPr/>
          <p:nvPr userDrawn="1"/>
        </p:nvSpPr>
        <p:spPr bwMode="inv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33000">
                <a:srgbClr val="0D323D"/>
              </a:gs>
              <a:gs pos="85000">
                <a:srgbClr val="002733"/>
              </a:gs>
            </a:gsLst>
            <a:lin ang="20092269" scaled="1"/>
          </a:gradFill>
          <a:ln w="317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Graphic 7">
            <a:extLst>
              <a:ext uri="{FF2B5EF4-FFF2-40B4-BE49-F238E27FC236}">
                <a16:creationId xmlns:a16="http://schemas.microsoft.com/office/drawing/2014/main" id="{A0634080-C889-7D14-C351-8FC2414B17B4}"/>
              </a:ext>
            </a:extLst>
          </p:cNvPr>
          <p:cNvSpPr/>
          <p:nvPr userDrawn="1"/>
        </p:nvSpPr>
        <p:spPr bwMode="invGray">
          <a:xfrm>
            <a:off x="0" y="2844800"/>
            <a:ext cx="12192000" cy="4014533"/>
          </a:xfrm>
          <a:custGeom>
            <a:avLst/>
            <a:gdLst>
              <a:gd name="connsiteX0" fmla="*/ 4401566 w 12192000"/>
              <a:gd name="connsiteY0" fmla="*/ 2429574 h 4014533"/>
              <a:gd name="connsiteX1" fmla="*/ 0 w 12192000"/>
              <a:gd name="connsiteY1" fmla="*/ 1914462 h 4014533"/>
              <a:gd name="connsiteX2" fmla="*/ 0 w 12192000"/>
              <a:gd name="connsiteY2" fmla="*/ 4014534 h 4014533"/>
              <a:gd name="connsiteX3" fmla="*/ 12192000 w 12192000"/>
              <a:gd name="connsiteY3" fmla="*/ 4014534 h 4014533"/>
              <a:gd name="connsiteX4" fmla="*/ 12192000 w 12192000"/>
              <a:gd name="connsiteY4" fmla="*/ 0 h 4014533"/>
              <a:gd name="connsiteX5" fmla="*/ 4401566 w 12192000"/>
              <a:gd name="connsiteY5" fmla="*/ 2429574 h 4014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014533">
                <a:moveTo>
                  <a:pt x="4401566" y="2429574"/>
                </a:moveTo>
                <a:cubicBezTo>
                  <a:pt x="2427827" y="2429574"/>
                  <a:pt x="819023" y="2113820"/>
                  <a:pt x="0" y="1914462"/>
                </a:cubicBezTo>
                <a:lnTo>
                  <a:pt x="0" y="4014534"/>
                </a:lnTo>
                <a:lnTo>
                  <a:pt x="12192000" y="4014534"/>
                </a:lnTo>
                <a:lnTo>
                  <a:pt x="12192000" y="0"/>
                </a:lnTo>
                <a:cubicBezTo>
                  <a:pt x="12192000" y="0"/>
                  <a:pt x="11434255" y="2429574"/>
                  <a:pt x="4401566" y="2429574"/>
                </a:cubicBezTo>
                <a:close/>
              </a:path>
            </a:pathLst>
          </a:custGeom>
          <a:gradFill>
            <a:gsLst>
              <a:gs pos="37000">
                <a:srgbClr val="183F49">
                  <a:alpha val="23000"/>
                </a:srgbClr>
              </a:gs>
              <a:gs pos="24000">
                <a:srgbClr val="0D323D">
                  <a:alpha val="0"/>
                </a:srgbClr>
              </a:gs>
              <a:gs pos="53000">
                <a:srgbClr val="224B55">
                  <a:alpha val="60000"/>
                </a:srgbClr>
              </a:gs>
              <a:gs pos="72000">
                <a:srgbClr val="7E989F">
                  <a:alpha val="45000"/>
                </a:srgbClr>
              </a:gs>
              <a:gs pos="100000">
                <a:srgbClr val="7E989F"/>
              </a:gs>
            </a:gsLst>
            <a:lin ang="18000000" scaled="0"/>
          </a:gradFill>
          <a:ln w="3175" cap="flat">
            <a:noFill/>
            <a:prstDash val="solid"/>
            <a:miter/>
          </a:ln>
          <a:effectLst>
            <a:softEdge rad="0"/>
          </a:effectLst>
        </p:spPr>
        <p:txBody>
          <a:bodyPr rtlCol="0" anchor="ctr"/>
          <a:lstStyle/>
          <a:p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27FB70C-E4E1-ECD0-3948-1A319339BA9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 bwMode="auto">
          <a:xfrm>
            <a:off x="407988" y="1054445"/>
            <a:ext cx="6120000" cy="1828193"/>
          </a:xfrm>
        </p:spPr>
        <p:txBody>
          <a:bodyPr wrap="square" anchor="b">
            <a:spAutoFit/>
          </a:bodyPr>
          <a:lstStyle>
            <a:lvl1pPr algn="l">
              <a:defRPr sz="4400">
                <a:solidFill>
                  <a:srgbClr val="C2FE06"/>
                </a:solidFill>
              </a:defRPr>
            </a:lvl1pPr>
          </a:lstStyle>
          <a:p/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0C6A1CA-6940-3BAD-B4DA-3D7F50B6B4C8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 bwMode="auto">
          <a:xfrm>
            <a:off x="407036" y="3103843"/>
            <a:ext cx="6120000" cy="215444"/>
          </a:xfrm>
        </p:spPr>
        <p:txBody>
          <a:bodyPr wrap="square">
            <a:spAutoFit/>
          </a:bodyPr>
          <a:lstStyle>
            <a:lvl1pPr marL="0" indent="0" algn="l">
              <a:buNone/>
              <a:defRPr sz="14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/>
        </p:txBody>
      </p:sp>
      <p:sp>
        <p:nvSpPr>
          <p:cNvPr id="30" name="Datumsplatzhalter 29">
            <a:extLst>
              <a:ext uri="{FF2B5EF4-FFF2-40B4-BE49-F238E27FC236}">
                <a16:creationId xmlns:a16="http://schemas.microsoft.com/office/drawing/2014/main" id="{7BAC9C67-E2A9-F40C-A076-73D55ED36A14}"/>
              </a:ext>
            </a:extLst>
          </p:cNvPr>
          <p:cNvSpPr>
            <a:spLocks noGrp="1"/>
          </p:cNvSpPr>
          <p:nvPr>
            <p:ph type="dt" sz="half" idx="15"/>
          </p:nvPr>
        </p:nvSpPr>
        <p:spPr bwMode="auto"/>
        <p:txBody>
          <a:bodyPr/>
          <a:lstStyle>
            <a:lvl1pPr>
              <a:defRPr>
                <a:solidFill>
                  <a:srgbClr val="99A9AD"/>
                </a:solidFill>
              </a:defRPr>
            </a:lvl1pPr>
          </a:lstStyle>
          <a:p/>
        </p:txBody>
      </p:sp>
      <p:sp>
        <p:nvSpPr>
          <p:cNvPr id="31" name="Fußzeilenplatzhalter 30">
            <a:extLst>
              <a:ext uri="{FF2B5EF4-FFF2-40B4-BE49-F238E27FC236}">
                <a16:creationId xmlns:a16="http://schemas.microsoft.com/office/drawing/2014/main" id="{23235CD4-3F56-2640-0F79-7EA108D40DF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>
            <a:lvl1pPr>
              <a:defRPr>
                <a:solidFill>
                  <a:srgbClr val="99A9AD"/>
                </a:solidFill>
              </a:defRPr>
            </a:lvl1pPr>
          </a:lstStyle>
          <a:p/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D8E3033D-E7AC-0F85-D590-F57F667BA00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auto">
          <a:xfrm>
            <a:off x="11426400" y="6580800"/>
            <a:ext cx="360000" cy="126000"/>
          </a:xfrm>
        </p:spPr>
        <p:txBody>
          <a:bodyPr/>
          <a:lstStyle>
            <a:lvl1pPr>
              <a:defRPr>
                <a:solidFill>
                  <a:srgbClr val="99A9AD"/>
                </a:solidFill>
              </a:defRPr>
            </a:lvl1pPr>
          </a:lstStyle>
          <a:p/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6956" y="-86146"/>
            <a:ext cx="3760998" cy="1287566"/>
          </a:xfrm>
          <a:prstGeom prst="rect">
            <a:avLst/>
          </a:prstGeom>
        </p:spPr>
      </p:pic>
      <p:pic>
        <p:nvPicPr>
          <p:cNvPr id="4" name="Grafik 4" descr="Ein Bild, das Text, Schrift, Grafiken, Logo enthält.&#10;&#10;KI-generierte Inhalte können fehlerhaft sein.">
            <a:extLst>
              <a:ext uri="{FF2B5EF4-FFF2-40B4-BE49-F238E27FC236}">
                <a16:creationId xmlns:a16="http://schemas.microsoft.com/office/drawing/2014/main" id="{198854A0-4FF0-3CC0-36B8-58A911B60E4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8739" y="6322840"/>
            <a:ext cx="989283" cy="491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8550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6" Type="http://schemas.openxmlformats.org/officeDocument/2006/relationships/theme" Target="../theme/theme1.xml"/><Relationship Id="rId50" Type="http://schemas.openxmlformats.org/officeDocument/2006/relationships/image" Target="../media/image2.png"/><Relationship Id="rId51" Type="http://schemas.openxmlformats.org/officeDocument/2006/relationships/image" Target="../media/image3.png"/><Relationship Id="rId52" Type="http://schemas.openxmlformats.org/officeDocument/2006/relationships/image" Target="../media/image4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">
            <a:extLst>
              <a:ext uri="{FF2B5EF4-FFF2-40B4-BE49-F238E27FC236}">
                <a16:creationId xmlns:a16="http://schemas.microsoft.com/office/drawing/2014/main" id="{124895F0-3DA2-06FB-67FD-B200DC04A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623885"/>
            <a:ext cx="11376024" cy="4318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/>
        </p:txBody>
      </p:sp>
      <p:sp>
        <p:nvSpPr>
          <p:cNvPr id="3" name="Text Placeholder ">
            <a:extLst>
              <a:ext uri="{FF2B5EF4-FFF2-40B4-BE49-F238E27FC236}">
                <a16:creationId xmlns:a16="http://schemas.microsoft.com/office/drawing/2014/main" id="{EE2F02CA-0041-CD44-4AD2-5BBC4F2A5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847056"/>
            <a:ext cx="11376025" cy="46061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/>
        </p:txBody>
      </p:sp>
      <p:sp>
        <p:nvSpPr>
          <p:cNvPr id="5" name="Footer Placeholder ">
            <a:extLst>
              <a:ext uri="{FF2B5EF4-FFF2-40B4-BE49-F238E27FC236}">
                <a16:creationId xmlns:a16="http://schemas.microsoft.com/office/drawing/2014/main" id="{CBF2006F-81BC-821A-C428-EA0A604EC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7988" y="6579882"/>
            <a:ext cx="10108800" cy="12599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/>
        </p:txBody>
      </p:sp>
      <p:sp>
        <p:nvSpPr>
          <p:cNvPr id="4" name="Date Placeholder ">
            <a:extLst>
              <a:ext uri="{FF2B5EF4-FFF2-40B4-BE49-F238E27FC236}">
                <a16:creationId xmlns:a16="http://schemas.microsoft.com/office/drawing/2014/main" id="{BBDBFAF1-7339-803F-0C2C-CF9050E57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707152" y="6579882"/>
            <a:ext cx="720000" cy="12599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/>
        </p:txBody>
      </p:sp>
      <p:sp>
        <p:nvSpPr>
          <p:cNvPr id="6" name="Slide Number Placeholder ">
            <a:extLst>
              <a:ext uri="{FF2B5EF4-FFF2-40B4-BE49-F238E27FC236}">
                <a16:creationId xmlns:a16="http://schemas.microsoft.com/office/drawing/2014/main" id="{E1A3CA1C-DC09-13B5-0B0D-CCB0B77512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4012" y="6579882"/>
            <a:ext cx="360000" cy="12599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/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5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714" y="-22451"/>
            <a:ext cx="2486148" cy="851126"/>
          </a:xfrm>
          <a:prstGeom prst="rect">
            <a:avLst/>
          </a:prstGeom>
        </p:spPr>
      </p:pic>
      <p:pic>
        <p:nvPicPr>
          <p:cNvPr id="9" name="Grafik 25">
            <a:extLst>
              <a:ext uri="{FF2B5EF4-FFF2-40B4-BE49-F238E27FC236}">
                <a16:creationId xmlns:a16="http://schemas.microsoft.com/office/drawing/2014/main" id="{2A72A9DC-BD43-75E4-AB09-F81D0B375CC4}"/>
              </a:ext>
            </a:extLst>
          </p:cNvPr>
          <p:cNvPicPr>
            <a:picLocks noChangeAspect="1"/>
          </p:cNvPicPr>
          <p:nvPr userDrawn="1"/>
        </p:nvPicPr>
        <p:blipFill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88739" y="6322840"/>
            <a:ext cx="989283" cy="49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407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78" r:id="rId23"/>
    <p:sldLayoutId id="2147483654" r:id="rId24"/>
    <p:sldLayoutId id="2147483690" r:id="rId40"/>
  </p:sldLayoutIdLst>
  <p:hf hdr="0"/>
  <p:txStyles>
    <p:titleStyle>
      <a:lvl1pPr algn="l" defTabSz="4320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4320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4320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-216000" algn="l" defTabSz="4320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32000" indent="-216000" algn="l" defTabSz="432000" rtl="0" eaLnBrk="1" latinLnBrk="0" hangingPunct="1">
        <a:lnSpc>
          <a:spcPct val="100000"/>
        </a:lnSpc>
        <a:spcBef>
          <a:spcPts val="600"/>
        </a:spcBef>
        <a:buFont typeface="System Font Regular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216000" algn="l" defTabSz="432000" rtl="0" eaLnBrk="1" latinLnBrk="0" hangingPunct="1">
        <a:lnSpc>
          <a:spcPct val="100000"/>
        </a:lnSpc>
        <a:spcBef>
          <a:spcPts val="600"/>
        </a:spcBef>
        <a:buFont typeface="Wingdings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864000" indent="-216000" algn="l" defTabSz="432000" rtl="0" eaLnBrk="1" latinLnBrk="0" hangingPunct="1">
        <a:lnSpc>
          <a:spcPct val="100000"/>
        </a:lnSpc>
        <a:spcBef>
          <a:spcPts val="600"/>
        </a:spcBef>
        <a:buFont typeface="System Font Regular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080000" indent="-216000" algn="l" defTabSz="432000" rtl="0" eaLnBrk="1" latinLnBrk="0" hangingPunct="1">
        <a:lnSpc>
          <a:spcPct val="100000"/>
        </a:lnSpc>
        <a:spcBef>
          <a:spcPts val="600"/>
        </a:spcBef>
        <a:buSzPct val="125000"/>
        <a:buFont typeface="System Font Regular"/>
        <a:buChar char="‣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296000" indent="-216000" algn="l" defTabSz="432000" rtl="0" eaLnBrk="1" latinLnBrk="0" hangingPunct="1">
        <a:lnSpc>
          <a:spcPct val="100000"/>
        </a:lnSpc>
        <a:spcBef>
          <a:spcPts val="600"/>
        </a:spcBef>
        <a:buFont typeface="System Font Regular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1512000" indent="-216000" algn="l" defTabSz="432000" rtl="0" eaLnBrk="1" latinLnBrk="0" hangingPunct="1">
        <a:lnSpc>
          <a:spcPct val="100000"/>
        </a:lnSpc>
        <a:spcBef>
          <a:spcPts val="600"/>
        </a:spcBef>
        <a:buSzPct val="10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57" userDrawn="1">
          <p15:clr>
            <a:srgbClr val="A4A3A4"/>
          </p15:clr>
        </p15:guide>
        <p15:guide id="3" pos="7423" userDrawn="1">
          <p15:clr>
            <a:srgbClr val="A4A3A4"/>
          </p15:clr>
        </p15:guide>
        <p15:guide id="4" orient="horz" pos="4320" userDrawn="1">
          <p15:clr>
            <a:srgbClr val="F26B43"/>
          </p15:clr>
        </p15:guide>
        <p15:guide id="5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663" userDrawn="1">
          <p15:clr>
            <a:srgbClr val="A4A3A4"/>
          </p15:clr>
        </p15:guide>
        <p15:guide id="8" orient="horz" pos="1162" userDrawn="1">
          <p15:clr>
            <a:srgbClr val="A4A3A4"/>
          </p15:clr>
        </p15:guide>
        <p15:guide id="9" orient="horz" pos="391" userDrawn="1">
          <p15:clr>
            <a:srgbClr val="A4A3A4"/>
          </p15:clr>
        </p15:guide>
        <p15:guide id="10" orient="horz" pos="406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hyperlink" Target="https://mavorx.github.io/ChargingMap/" TargetMode="Externa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7822" y="1700784"/>
            <a:ext cx="5852160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+mj-lt"/>
                <a:ea typeface="Microsoft YaHei"/>
              </a:rPr>
              <a:t>VWer-Charging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7822" y="2724912"/>
            <a:ext cx="5715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Microsoft YaHei"/>
                <a:ea typeface="Microsoft YaHei"/>
              </a:rPr>
              <a:t>让每一次出发，都满电。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7822" y="3493008"/>
            <a:ext cx="55778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99D1CD"/>
                </a:solidFill>
                <a:latin typeface="+mn-lt"/>
                <a:ea typeface="Microsoft YaHei"/>
              </a:rPr>
              <a:t>One map.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99D1CD"/>
                </a:solidFill>
                <a:latin typeface="+mn-lt"/>
                <a:ea typeface="Microsoft YaHei"/>
              </a:rPr>
              <a:t>A connected charging journey.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57492" y="1812340"/>
            <a:ext cx="5199278" cy="3620668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ktop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828800"/>
            <a:ext cx="5166360" cy="3587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7822" y="485546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Microsoft YaHei"/>
                <a:ea typeface="Microsoft YaHei"/>
              </a:rPr>
              <a:t>2026.10 / 项目介绍 / Project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5596128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9D1CD"/>
                </a:solidFill>
                <a:latin typeface="+mn-lt"/>
                <a:ea typeface="Microsoft YaHei"/>
              </a:rPr>
              <a:t>模拟站点与交易 / Simulated stations &amp;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从找站，到完成充电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One connected journey — from discovery to completion.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669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C82"/>
                </a:solidFill>
                <a:latin typeface="+mn-lt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56816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02733"/>
                </a:solidFill>
                <a:latin typeface="Microsoft YaHei"/>
                <a:ea typeface="Microsoft YaHei"/>
              </a:rPr>
              <a:t>找得到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50008"/>
            <a:ext cx="297180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Discover the right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5669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C82"/>
                </a:solidFill>
                <a:latin typeface="+mn-lt"/>
                <a:ea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40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02733"/>
                </a:solidFill>
                <a:latin typeface="Microsoft YaHei"/>
                <a:ea typeface="Microsoft YaHei"/>
              </a:rPr>
              <a:t>接得上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2"/>
            <a:ext cx="297180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Select, plug in, then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43984"/>
            <a:ext cx="5669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C82"/>
                </a:solidFill>
                <a:latin typeface="+mn-lt"/>
                <a:ea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4398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02733"/>
                </a:solidFill>
                <a:latin typeface="Microsoft YaHei"/>
                <a:ea typeface="Microsoft YaHei"/>
              </a:rPr>
              <a:t>结得清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837176"/>
            <a:ext cx="297180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Stop, unplug, pay &amp;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5540" y="1794052"/>
            <a:ext cx="1889150" cy="4049994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bi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10512"/>
            <a:ext cx="1856231" cy="40170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62272" y="598932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C6870"/>
                </a:solidFill>
                <a:latin typeface="Microsoft YaHei"/>
                <a:ea typeface="Microsoft YaHei"/>
              </a:rPr>
              <a:t>发现站点  /  DISCOVER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51268" y="1794052"/>
            <a:ext cx="1889150" cy="4049994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obile-charg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1810512"/>
            <a:ext cx="1856231" cy="40170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0" y="598932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C6870"/>
                </a:solidFill>
                <a:latin typeface="Microsoft YaHei"/>
                <a:ea typeface="Microsoft YaHei"/>
              </a:rPr>
              <a:t>充电进度  /  CHARGE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46996" y="1794052"/>
            <a:ext cx="1889150" cy="4049994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obile-p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6" y="1810512"/>
            <a:ext cx="1856231" cy="40170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3728" y="598932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C6870"/>
                </a:solidFill>
                <a:latin typeface="Microsoft YaHei"/>
                <a:ea typeface="Microsoft YaHei"/>
              </a:rPr>
              <a:t>完成支付  /  COMPLETE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模拟数据，不是随机撒点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9D1CD"/>
                </a:solidFill>
                <a:latin typeface="+mn-lt"/>
                <a:ea typeface="Microsoft YaHei"/>
              </a:rPr>
              <a:t>Designed synthetic data — not uniform random dots.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" y="1794052"/>
            <a:ext cx="6726326" cy="4176456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ynthetic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0512"/>
            <a:ext cx="6693408" cy="41435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993392"/>
            <a:ext cx="205740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2FE06"/>
                </a:solidFill>
                <a:latin typeface="+mn-lt"/>
                <a:ea typeface="Microsoft YaHei"/>
              </a:rPr>
              <a:t>1,500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9D1CD"/>
                </a:solidFill>
                <a:latin typeface="Microsoft YaHei"/>
                <a:ea typeface="Microsoft YaHei"/>
              </a:rPr>
              <a:t>上海模拟站点 / Shanghai demo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956816"/>
            <a:ext cx="21214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9D1CD"/>
                </a:solidFill>
                <a:latin typeface="Microsoft YaHei"/>
                <a:ea typeface="Microsoft YaHei"/>
              </a:rPr>
              <a:t>中心城区局部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9D1CD"/>
                </a:solidFill>
                <a:latin typeface="Microsoft YaHei"/>
                <a:ea typeface="Microsoft YaHei"/>
              </a:rPr>
              <a:t>Central-area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194767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FE06"/>
                </a:solidFill>
                <a:latin typeface="+mn-lt"/>
                <a:ea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道路骨架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13432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Road-guided sampling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935224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FE06"/>
                </a:solidFill>
                <a:latin typeface="+mn-lt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9077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多中心需求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3300984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Polycentric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922776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FE06"/>
                </a:solidFill>
                <a:latin typeface="+mn-lt"/>
                <a:ea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953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街区疏密变化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4288536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Neighborhood variation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944" y="4910328"/>
            <a:ext cx="502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FE06"/>
                </a:solidFill>
                <a:latin typeface="+mn-lt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88289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停车区域偏移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5276088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Parking-area offsets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071616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9D1CD"/>
                </a:solidFill>
                <a:latin typeface="Microsoft YaHei"/>
                <a:ea typeface="Microsoft YaHei"/>
              </a:rPr>
              <a:t>110 m 最小间距 / min gap  ·  ≤ 5 站 / sites within 250 m  ·  35–180 m 偏移 / offset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可复现的数据，按需抵达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Reproducible data. On-demand detail.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29968"/>
            <a:ext cx="2560320" cy="2615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313432"/>
            <a:ext cx="21945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8C82"/>
                </a:solidFill>
                <a:latin typeface="+mn-lt"/>
                <a:ea typeface="Microsoft YaHe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374136"/>
            <a:ext cx="2139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2733"/>
                </a:solidFill>
                <a:latin typeface="Microsoft YaHei"/>
                <a:ea typeface="Microsoft YaHei"/>
              </a:rPr>
              <a:t>固定随机种子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767328"/>
            <a:ext cx="2139696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Deterministic 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999232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4C6870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2029968"/>
            <a:ext cx="2560320" cy="2615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313432"/>
            <a:ext cx="21945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8C82"/>
                </a:solidFill>
                <a:latin typeface="+mn-lt"/>
                <a:ea typeface="Microsoft YaHei"/>
              </a:rPr>
              <a:t>2,000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74136"/>
            <a:ext cx="2139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2733"/>
                </a:solidFill>
                <a:latin typeface="Microsoft YaHei"/>
                <a:ea typeface="Microsoft YaHei"/>
              </a:rPr>
              <a:t>上海 + 合肥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67328"/>
            <a:ext cx="2139696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1,500 Shanghai + 500 Hefei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999232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4C6870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2029968"/>
            <a:ext cx="2560320" cy="2615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13432"/>
            <a:ext cx="21945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8C82"/>
                </a:solidFill>
                <a:latin typeface="+mn-lt"/>
                <a:ea typeface="Microsoft YaHe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374136"/>
            <a:ext cx="2139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2733"/>
                </a:solidFill>
                <a:latin typeface="Microsoft YaHei"/>
                <a:ea typeface="Microsoft YaHei"/>
              </a:rPr>
              <a:t>每片 100 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67328"/>
            <a:ext cx="2139696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100 stations per detail shard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999232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4C6870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2029968"/>
            <a:ext cx="2560320" cy="2615184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7736" y="2313432"/>
            <a:ext cx="21945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8C82"/>
                </a:solidFill>
                <a:latin typeface="+mn-lt"/>
                <a:ea typeface="Microsoft Ya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374136"/>
            <a:ext cx="2139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2733"/>
                </a:solidFill>
                <a:latin typeface="Microsoft YaHei"/>
                <a:ea typeface="Microsoft YaHei"/>
              </a:rPr>
              <a:t>同片请求共享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767328"/>
            <a:ext cx="2139696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One in-flight request per shard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84648"/>
            <a:ext cx="11173968" cy="850392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94960"/>
            <a:ext cx="530352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</a:rPr>
              <a:t>同一参数，逐字节一致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9D1CD"/>
                </a:solidFill>
                <a:latin typeface="+mn-lt"/>
                <a:ea typeface="Microsoft YaHei"/>
              </a:rPr>
              <a:t>Same parameters. Byte-identical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双色地图，只换观感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Two themes. One map. No style reload.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1444752" cy="320040"/>
          </a:xfrm>
          <a:prstGeom prst="rect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7651"/>
            <a:ext cx="1261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+mn-lt"/>
                <a:ea typeface="Microsoft YaHei"/>
              </a:rPr>
              <a:t>白天 / LIGHT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1737360"/>
            <a:ext cx="1444752" cy="320040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787651"/>
            <a:ext cx="1261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+mn-lt"/>
                <a:ea typeface="Microsoft YaHei"/>
              </a:rPr>
              <a:t>夜间 / DARK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6460" y="2178100"/>
            <a:ext cx="5427878" cy="3779418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sktop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5394960" cy="37465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65468" y="2178100"/>
            <a:ext cx="5427878" cy="3779418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kto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2194560"/>
            <a:ext cx="5394960" cy="3746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989320"/>
            <a:ext cx="4572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8C82"/>
                </a:solidFill>
                <a:latin typeface="+mn-lt"/>
                <a:ea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6016752"/>
            <a:ext cx="10515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C6870"/>
                </a:solidFill>
                <a:latin typeface="Microsoft YaHei"/>
                <a:ea typeface="Microsoft YaHei"/>
              </a:rPr>
              <a:t>新增样式 / 瓦片请求  ·  New style / tile requests during toggles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地图、列表、筛选，一个答案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Map, list and filters stay in sync.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" y="1794052"/>
            <a:ext cx="6452006" cy="4490618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0512"/>
            <a:ext cx="6419088" cy="4457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253020" y="1794052"/>
            <a:ext cx="1925726" cy="4251176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sktop-filter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10512"/>
            <a:ext cx="1892807" cy="42182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646920" y="2121408"/>
            <a:ext cx="64008" cy="292608"/>
          </a:xfrm>
          <a:prstGeom prst="rect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0" y="20574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视野联动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450592"/>
            <a:ext cx="1874519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Viewport-aware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46920" y="3364992"/>
            <a:ext cx="64008" cy="292608"/>
          </a:xfrm>
          <a:prstGeom prst="rect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3300984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组合筛选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3694176"/>
            <a:ext cx="1874519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Combine availability,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connector &amp; power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4608576"/>
            <a:ext cx="64008" cy="292608"/>
          </a:xfrm>
          <a:prstGeom prst="rect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4544568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可用数同步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4937760"/>
            <a:ext cx="1874519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Live marker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cluster updates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充电交互，遵循现实顺序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A charging flow that makes sense.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1572768" cy="950976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313432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明确选桩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706624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C6870"/>
                </a:solidFill>
                <a:latin typeface="+mn-lt"/>
                <a:ea typeface="Microsoft YaHei"/>
              </a:rPr>
              <a:t>SELECT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432303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76856" y="2139696"/>
            <a:ext cx="1572768" cy="950976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2313432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接枪确认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0008" y="2706624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C6870"/>
                </a:solidFill>
                <a:latin typeface="+mn-lt"/>
                <a:ea typeface="Microsoft YaHei"/>
              </a:rPr>
              <a:t>PLUG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432303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0791" y="2139696"/>
            <a:ext cx="1572768" cy="950976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2313432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检测启动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2706624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C6870"/>
                </a:solidFill>
                <a:latin typeface="+mn-lt"/>
                <a:ea typeface="Microsoft YaHei"/>
              </a:rPr>
              <a:t>CHECK &amp; 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64991"/>
            <a:ext cx="1572768" cy="950976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538727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</a:rPr>
              <a:t>停止应答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93192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9D1CD"/>
                </a:solidFill>
                <a:latin typeface="+mn-lt"/>
                <a:ea typeface="Microsoft YaHei"/>
              </a:rPr>
              <a:t>STOP 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2264" y="3657599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3364991"/>
            <a:ext cx="1572768" cy="950976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3538727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拔枪归位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393192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C6870"/>
                </a:solidFill>
                <a:latin typeface="+mn-lt"/>
                <a:ea typeface="Microsoft YaHei"/>
              </a:rPr>
              <a:t>UNPLUG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657599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50791" y="3364991"/>
            <a:ext cx="1572768" cy="950976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3538727"/>
            <a:ext cx="135331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查看账单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23944" y="393192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C6870"/>
                </a:solidFill>
                <a:latin typeface="+mn-lt"/>
                <a:ea typeface="Microsoft YaHei"/>
              </a:rPr>
              <a:t>CHECK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5230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2733"/>
                </a:solidFill>
                <a:latin typeface="Microsoft YaHei"/>
                <a:ea typeface="Microsoft YaHei"/>
              </a:rPr>
              <a:t>功率 × 时间，目标电量封顶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559552"/>
            <a:ext cx="5230368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kW × h → kWh, capped at the selected target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28892" y="1794052"/>
            <a:ext cx="2072030" cy="4445765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obile-pl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810512"/>
            <a:ext cx="2039112" cy="4412847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9164116" y="1794052"/>
            <a:ext cx="2072030" cy="4445765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mobile-unpl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6" y="1810512"/>
            <a:ext cx="2039112" cy="441284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035040" y="6245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C6870"/>
                </a:solidFill>
                <a:latin typeface="Microsoft YaHei"/>
                <a:ea typeface="Microsoft YaHei"/>
              </a:rPr>
              <a:t>先接枪，再开始 / Plug before start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6245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C6870"/>
                </a:solidFill>
                <a:latin typeface="Microsoft YaHei"/>
                <a:ea typeface="Microsoft YaHei"/>
              </a:rPr>
              <a:t>先停止，再拔枪 / Stop before unplug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同一套体验，跨语言与屏幕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One experience — across languages and screens.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" y="1848916"/>
            <a:ext cx="6287414" cy="4376318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nglish-detail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5376"/>
            <a:ext cx="6254496" cy="4343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298740" y="1848916"/>
            <a:ext cx="1907438" cy="4089571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ile-engl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65376"/>
            <a:ext cx="1874519" cy="405665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31044" y="1848916"/>
            <a:ext cx="1907438" cy="4089571"/>
          </a:xfrm>
          <a:prstGeom prst="rect">
            <a:avLst/>
          </a:prstGeom>
          <a:solidFill>
            <a:srgbClr val="CC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obile-charging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504" y="1865376"/>
            <a:ext cx="1874519" cy="405665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71600" y="6263640"/>
            <a:ext cx="438912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C6870"/>
                </a:solidFill>
                <a:latin typeface="+mn-lt"/>
                <a:ea typeface="Microsoft YaHei"/>
              </a:rPr>
              <a:t>桌面 / DESKTOP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0624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08C82"/>
                </a:solidFill>
                <a:latin typeface="Microsoft YaHei"/>
                <a:ea typeface="Microsoft YaHei"/>
              </a:rPr>
              <a:t>中文 ⇄ English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606247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C6870"/>
                </a:solidFill>
                <a:latin typeface="Microsoft YaHei"/>
                <a:ea typeface="Microsoft YaHei"/>
              </a:rPr>
              <a:t>明暗一致 / LIGHT &amp; DARK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869680" cy="0"/>
          </a:xfrm>
        </p:spPr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2733"/>
                </a:solidFill>
                <a:latin typeface="Microsoft YaHei"/>
                <a:ea typeface="Microsoft YaHei"/>
              </a:rPr>
              <a:t>演示，也经得起验证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 lIns="0" rIns="0" tIns="0" bIns="0" wrap="square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8C82"/>
                </a:solidFill>
                <a:latin typeface="+mn-lt"/>
                <a:ea typeface="Microsoft YaHei"/>
              </a:rPr>
              <a:t>Built to demo. Tested to hold up.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C6870"/>
                </a:solidFill>
                <a:latin typeface="+mn-lt"/>
                <a:ea typeface="Microsoft YaHe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38528"/>
            <a:ext cx="2560320" cy="2487168"/>
          </a:xfrm>
          <a:prstGeom prst="rect">
            <a:avLst/>
          </a:prstGeom>
          <a:solidFill>
            <a:srgbClr val="0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258568"/>
            <a:ext cx="21945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C2FE06"/>
                </a:solidFill>
                <a:latin typeface="+mn-lt"/>
                <a:ea typeface="Microsoft YaHei"/>
              </a:rPr>
              <a:t>427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346704"/>
            <a:ext cx="2130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</a:rPr>
              <a:t>单元与组件测试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739896"/>
            <a:ext cx="21305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Unit &amp; component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938528"/>
            <a:ext cx="2560320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2258568"/>
            <a:ext cx="21945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008C82"/>
                </a:solidFill>
                <a:latin typeface="+mn-lt"/>
                <a:ea typeface="Microsoft YaHe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346704"/>
            <a:ext cx="2130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浏览器回归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739896"/>
            <a:ext cx="21305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Browser regression 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1938528"/>
            <a:ext cx="2560320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258568"/>
            <a:ext cx="21945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008C82"/>
                </a:solidFill>
                <a:latin typeface="+mn-lt"/>
                <a:ea typeface="Microsoft YaHei"/>
              </a:rPr>
              <a:t>2,000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346704"/>
            <a:ext cx="2130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站点契约校验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39896"/>
            <a:ext cx="21305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Validated demo stations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6568" y="1938528"/>
            <a:ext cx="2560320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CC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58568"/>
            <a:ext cx="21945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008C82"/>
                </a:solidFill>
                <a:latin typeface="+mn-lt"/>
                <a:ea typeface="Microsoft YaHe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346704"/>
            <a:ext cx="2130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733"/>
                </a:solidFill>
                <a:latin typeface="Microsoft YaHei"/>
                <a:ea typeface="Microsoft YaHei"/>
              </a:rPr>
              <a:t>依赖审计告警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39896"/>
            <a:ext cx="21305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Known npm audit 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86460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C6870"/>
                </a:solidFill>
                <a:latin typeface="+mn-lt"/>
                <a:ea typeface="Microsoft YaHei"/>
              </a:rPr>
              <a:t>本轮修复 / FIXED IN THIS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04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目标电量封顶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97296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Target-limited metering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5404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预约兼容复核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5797296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Booking compatibility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404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2733"/>
                </a:solidFill>
                <a:latin typeface="Microsoft YaHei"/>
                <a:ea typeface="Microsoft YaHei"/>
              </a:rPr>
              <a:t>地图标记复用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797296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C6870"/>
                </a:solidFill>
                <a:latin typeface="+mn-lt"/>
                <a:ea typeface="Microsoft YaHei"/>
              </a:rPr>
              <a:t>Correct marker lifecycle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te Placeholder 1"/>
          <p:cNvSpPr>
            <a:spLocks noGrp="1"/>
          </p:cNvSpPr>
          <p:nvPr>
            <p:ph type="dt" idx="15" sz="half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2026.10.28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idx="16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ChargingMap  |  Project Overview / 项目介绍  | 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7" sz="quarter"/>
          </p:nvPr>
        </p:nvSpPr>
        <p:spPr/>
        <p:txBody>
          <a:bodyPr lIns="0" rIns="0" tIns="0" bIns="0" wrap="square" anchor="t"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9A9AD"/>
                </a:solidFill>
                <a:latin typeface="+mn-lt"/>
                <a:ea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7822" y="1115568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2FE06"/>
                </a:solidFill>
                <a:latin typeface="Microsoft YaHei"/>
                <a:ea typeface="Microsoft YaHei"/>
              </a:rPr>
              <a:t>可讲解。可演示。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C2FE06"/>
                </a:solidFill>
                <a:latin typeface="Microsoft YaHei"/>
                <a:ea typeface="Microsoft YaHei"/>
              </a:rPr>
              <a:t>可扩展。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7822" y="2624328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99D1CD"/>
                </a:solidFill>
                <a:latin typeface="+mn-lt"/>
                <a:ea typeface="Microsoft YaHei"/>
              </a:rPr>
              <a:t>Explain it. Demo it. Build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3328416"/>
            <a:ext cx="73152" cy="566928"/>
          </a:xfrm>
          <a:prstGeom prst="rect">
            <a:avLst/>
          </a:prstGeom>
          <a:solidFill>
            <a:srgbClr val="C2FE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2644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有设计的数据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657600"/>
            <a:ext cx="329184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DESIGNED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3128" y="3328416"/>
            <a:ext cx="73152" cy="566928"/>
          </a:xfrm>
          <a:prstGeom prst="rect">
            <a:avLst/>
          </a:prstGeom>
          <a:solidFill>
            <a:srgbClr val="C2FE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32644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轻量双色地图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657600"/>
            <a:ext cx="329184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ONE MAP, TWO THEMES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328416"/>
            <a:ext cx="73152" cy="566928"/>
          </a:xfrm>
          <a:prstGeom prst="rect">
            <a:avLst/>
          </a:prstGeom>
          <a:solidFill>
            <a:srgbClr val="C2FE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32644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连贯充电闭环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57600"/>
            <a:ext cx="329184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9D1CD"/>
                </a:solidFill>
                <a:latin typeface="+mn-lt"/>
                <a:ea typeface="Microsoft YaHei"/>
              </a:rPr>
              <a:t>CONNECTED JOURNEY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4599432"/>
            <a:ext cx="3703320" cy="576072"/>
          </a:xfrm>
          <a:prstGeom prst="rect">
            <a:avLst/>
          </a:prstGeom>
          <a:solidFill>
            <a:srgbClr val="C2FE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r:id="rId2"/>
          </p:cNvPr>
          <p:cNvSpPr txBox="1"/>
          <p:nvPr/>
        </p:nvSpPr>
        <p:spPr>
          <a:xfrm>
            <a:off x="768096" y="4745736"/>
            <a:ext cx="33284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2733"/>
                </a:solidFill>
                <a:latin typeface="Microsoft YaHei"/>
                <a:ea typeface="Microsoft YaHei"/>
              </a:rPr>
              <a:t>打开演示 / OPEN LIVE DEMO  ↗</a:t>
            </a:r>
          </a:p>
        </p:txBody>
      </p:sp>
      <p:sp>
        <p:nvSpPr>
          <p:cNvPr id="18" name="TextBox 17">
            <a:hlinkClick r:id="rId2"/>
          </p:cNvPr>
          <p:cNvSpPr txBox="1"/>
          <p:nvPr/>
        </p:nvSpPr>
        <p:spPr>
          <a:xfrm>
            <a:off x="594360" y="5449824"/>
            <a:ext cx="10881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+mn-lt"/>
                <a:ea typeface="Microsoft YaHei"/>
              </a:rPr>
              <a:t>https://mavorx.github.io/ChargingMap/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16752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9D1CD"/>
                </a:solidFill>
                <a:latin typeface="Microsoft YaHei"/>
                <a:ea typeface="Microsoft YaHei"/>
              </a:rPr>
              <a:t>模拟站点与交易，不接入真实设备。 / Simulated stations &amp; transactions. No live charger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CTC Theme">
  <a:themeElements>
    <a:clrScheme name="Volkswagen Group Theme ">
      <a:dk1>
        <a:srgbClr val="000000"/>
      </a:dk1>
      <a:lt1>
        <a:srgbClr val="FFFFFF"/>
      </a:lt1>
      <a:dk2>
        <a:srgbClr val="002733"/>
      </a:dk2>
      <a:lt2>
        <a:srgbClr val="FFFFFF"/>
      </a:lt2>
      <a:accent1>
        <a:srgbClr val="002733"/>
      </a:accent1>
      <a:accent2>
        <a:srgbClr val="008C82"/>
      </a:accent2>
      <a:accent3>
        <a:srgbClr val="99D1CD"/>
      </a:accent3>
      <a:accent4>
        <a:srgbClr val="809399"/>
      </a:accent4>
      <a:accent5>
        <a:srgbClr val="CCD3D6"/>
      </a:accent5>
      <a:accent6>
        <a:srgbClr val="4C6870"/>
      </a:accent6>
      <a:hlink>
        <a:srgbClr val="008C82"/>
      </a:hlink>
      <a:folHlink>
        <a:srgbClr val="008C82"/>
      </a:folHlink>
    </a:clrScheme>
    <a:fontScheme name="Volkswagen Group Fonts">
      <a:majorFont>
        <a:latin typeface="The Group HEAD Light"/>
        <a:ea typeface=""/>
        <a:cs typeface=""/>
      </a:majorFont>
      <a:minorFont>
        <a:latin typeface="The Group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216000" tIns="216000" rIns="216000" bIns="216000" rtlCol="0" anchor="t"/>
      <a:lstStyle>
        <a:defPPr algn="l" defTabSz="432000">
          <a:spcAft>
            <a:spcPts val="600"/>
          </a:spcAft>
          <a:defRPr sz="1400"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216000" tIns="216000" rIns="216000" bIns="216000" rtlCol="0">
        <a:spAutoFit/>
      </a:bodyPr>
      <a:lstStyle>
        <a:defPPr algn="l">
          <a:spcBef>
            <a:spcPts val="600"/>
          </a:spcBef>
          <a:defRPr sz="1400" dirty="0" err="1" smtClean="0"/>
        </a:defPPr>
      </a:lstStyle>
    </a:txDef>
  </a:objectDefaults>
  <a:extraClrSchemeLst/>
  <a:custClrLst>
    <a:custClr name="Deep Space Blue">
      <a:srgbClr val="002733"/>
    </a:custClr>
    <a:custClr name="Deep Space Blue 90%">
      <a:srgbClr val="193D47"/>
    </a:custClr>
    <a:custClr name="Deep Space Blue 60%">
      <a:srgbClr val="667D85"/>
    </a:custClr>
    <a:custClr name="Deep Space Blue 40%">
      <a:srgbClr val="99A9AD"/>
    </a:custClr>
    <a:custClr name="Deep Space Blue 20%">
      <a:srgbClr val="CCD4D6"/>
    </a:custClr>
    <a:custClr name="Deep Space Blue 10%">
      <a:srgbClr val="E5E9EB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Vivid Green">
      <a:srgbClr val="008C82"/>
    </a:custClr>
    <a:custClr name="Vivid Green 80%">
      <a:srgbClr val="33A39B"/>
    </a:custClr>
    <a:custClr name="Vivid Green 60%">
      <a:srgbClr val="66BAB4"/>
    </a:custClr>
    <a:custClr name="Vivid Green 40%">
      <a:srgbClr val="99D1CD"/>
    </a:custClr>
    <a:custClr name="Vivid Green 20%">
      <a:srgbClr val="CCE8E6"/>
    </a:custClr>
    <a:custClr name="Vivid Green 10%">
      <a:srgbClr val="E5F3F2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Electric Neon">
      <a:srgbClr val="C2FE06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Coral">
      <a:srgbClr val="E67364"/>
    </a:custClr>
    <a:custClr name="Orange">
      <a:srgbClr val="FAAA3C"/>
    </a:custClr>
    <a:custClr name="Beige">
      <a:srgbClr val="FAD2AA"/>
    </a:custClr>
    <a:custClr name="Blue">
      <a:srgbClr val="8CBEE6"/>
    </a:custClr>
    <a:custClr name="Violet">
      <a:srgbClr val="C882BE"/>
    </a:custClr>
    <a:custClr name="Lavender">
      <a:srgbClr val="DCCDF0"/>
    </a:custClr>
    <a:custClr name="Blank">
      <a:srgbClr val="FFFFFF"/>
    </a:custClr>
    <a:custClr name="Traffic Light Red">
      <a:srgbClr val="DA0C1F"/>
    </a:custClr>
    <a:custClr name="Traffic Light Yellow">
      <a:srgbClr val="FCCD22"/>
    </a:custClr>
    <a:custClr name="Traffic Light Green">
      <a:srgbClr val="64A844"/>
    </a:custClr>
  </a:custClrLst>
  <a:extLst>
    <a:ext uri="{05A4C25C-085E-4340-85A3-A5531E510DB2}">
      <thm15:themeFamily xmlns:thm15="http://schemas.microsoft.com/office/thememl/2012/main" name="Presentation1" id="{A67C546B-CEA4-450C-A465-A6178DB4250A}" vid="{FDC159B2-42B3-4357-9531-0DEC42E268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4225771-33c1-4f28-9158-59e43d478b7a}" enabled="1" method="Standard" siteId="{fcbbfcc5-e08a-4038-b039-458b88ed278c}" contentBits="3" removed="0"/>
  <clbl:label id="{b0ff92c5-92ff-43fe-a760-6a9303f9073d}" enabled="1" method="Standard" siteId="{1272ef7d-0a4c-4c35-8f4b-416e283c5d59}" contentBits="3" removed="0"/>
</clbl:labelList>
</file>

<file path=docProps/app.xml><?xml version="1.0" encoding="utf-8"?>
<Properties xmlns="http://schemas.openxmlformats.org/officeDocument/2006/extended-properties">
  <Application>ChargingMap Presentation Builder</Application>
  <PresentationFormat>Widescreen</PresentationFormat>
  <Slides>10</Slides>
  <Notes>10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VWer-Charging | 项目介绍 / Project Overview</dc:title>
  <dc:subject>Designed synthetic data, dual-theme maps, and a connected charging demo</dc:subject>
  <dc:creator>ChargingMap</dc:creator>
  <cp:keywords>ChargingMap, EV, Vue, AMap, bilingual, synthetic data</cp:keywords>
  <dc:description>Editable bilingual presentation. All stations and transactions are simulated.</dc:description>
  <cp:lastModifiedBy>ChargingMap</cp:lastModifiedBy>
  <cp:revision>1</cp:revision>
  <dcterms:created xsi:type="dcterms:W3CDTF">2026-04-17T09:45:05Z</dcterms:created>
  <dcterms:modified xsi:type="dcterms:W3CDTF">2026-04-17T09:47:13Z</dcterms:modified>
  <cp:category/>
</cp:coreProperties>
</file>