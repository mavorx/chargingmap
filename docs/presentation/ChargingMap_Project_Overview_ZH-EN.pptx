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</p:sldIdLst>
  <p:sldSz cx="12191999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项目定位：Vue + Pinia + 高德地图的充电服务演示，不控制真实设备、不发生真实扣款。</a:t>
            </a:r>
          </a:p>
          <a:p>
            <a:r>
              <a:t>A front-end EV charging demo, not a live operator platform. Screenshots were captured locally in Edge with the real AMap SDK.</a:t>
            </a:r>
          </a:p>
          <a:p>
            <a:r>
              <a:t>本稿沿用品牌绿 #008C82、深色 #002733、荧光强调 #C2FE06；未打包企业模板与字体文件。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贯穿找站、组合筛选、详情、预约、明确选桩、接枪检测、充电、停止、拔枪、账单、支付与自愿评价。</a:t>
            </a:r>
          </a:p>
          <a:p>
            <a:r>
              <a:t>用户返回地图后仍能恢复当前会话；刷新恢复已保存状态并提示中断，不补算离线充电。</a:t>
            </a:r>
          </a:p>
          <a:p>
            <a:r>
              <a:t>End-to-end browser tests exercise the real UI controls. Payments, rewards and records remain local demo data.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图中直接绘制仓库内上海 1500 个模拟坐标及近似道路，右侧为中心城区局部；不是测绘数据或真实 POI。</a:t>
            </a:r>
          </a:p>
          <a:p>
            <a:r>
              <a:t>生成器按道路分段长度、道路权重、多中心需求高斯叠加与连续街区噪声抽样，并偏移到道路两侧 35–180 米的假设停车区域。</a:t>
            </a:r>
          </a:p>
          <a:p>
            <a:r>
              <a:t>110 米只防近乎重叠，不是目标间距。任一站点 250 米内最多 5 站（含自身），不为凑数量放宽约束。</a:t>
            </a:r>
          </a:p>
          <a:p>
            <a:r>
              <a:t>Sources: scripts/shanghai-layout.mjs, scripts/shanghai-demand.mjs, scripts/shanghai-roads.mjs; data-generation.spec.js.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默认 seed=42，上海 1500 站、合肥 500 站；两个地区使用独立的随机流。相同参数重复运行逐字节一致，上海数量变化不影响合肥数据。</a:t>
            </a:r>
          </a:p>
          <a:p>
            <a:r>
              <a:t>轻量列表先加载，详情按 stationId 推导到 [sh-]part-NN.json；每片 100 站，Promise 级缓存合并并发请求，失败可重试。</a:t>
            </a:r>
          </a:p>
          <a:p>
            <a:r>
              <a:t>The '1' describes a shared concurrent request per detail shard, not one network request for the whole app.</a:t>
            </a:r>
          </a:p>
          <a:p>
            <a:r>
              <a:t>Sources: generate_stations.js, src/services/api.js, data-generation.spec.js, api-details-cache.spec.js.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技术方案：固定复用 amap://styles/dark 和同一个地图实例，白天仅对底图 canvas 做局部 CSS 明暗合成。不是逐次调用 setMapStyle，也没有另一张隐藏地图。</a:t>
            </a:r>
          </a:p>
          <a:p>
            <a:r>
              <a:t>DOM 标记、信息窗及版权区域不随底图反色。相机、标记节点和测试折线保持不变。</a:t>
            </a:r>
          </a:p>
          <a:p>
            <a:r>
              <a:t>本轮 Edge 实测：1440×1000 与 390×844 各连续切换 8 次，并阻断远程样式/瓦片服务后再切换；新增相应请求为 0。</a:t>
            </a:r>
          </a:p>
          <a:p>
            <a:r>
              <a:t>This is a local compositing approach, not two independent AMap styles. Two-frame observations are environment-dependent, not a frame-rate guarantee. Test polyline retention does not revalidate the live driving API.</a:t>
            </a:r>
          </a:p>
          <a:p>
            <a:r>
              <a:t>Sources: src/components/map/MapView.vue, map-theme.spec.js, scripts/capture-presentation.mjs, TEST_REPORT.md.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搜索针对全部站点的站名/地址，支持中英关键词；再按地图视野与分页展示。所有入口共享同一搜索与筛选状态。</a:t>
            </a:r>
          </a:p>
          <a:p>
            <a:r>
              <a:t>150ms 防抖合并视野更新；可用枪数变化也会同步筛选成员、标记与聚合总数。</a:t>
            </a:r>
          </a:p>
          <a:p>
            <a:r>
              <a:t>本轮修复了 AMap 重用标记时点击回调叠加、旧站点绑定，以及可用数变化未更新聚合/筛选标记的问题。</a:t>
            </a:r>
          </a:p>
          <a:p>
            <a:r>
              <a:t>Desktop list collapse and expansion remain on the left; selected details stay in the left pane.</a:t>
            </a:r>
          </a:p>
          <a:p>
            <a:r>
              <a:t>Sources: src/store/modules/stations.js, MapView.vue, mapService.js; map-markers.spec.js, viewport-debounce.spec.js.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只能从用户明确选择的充电桩开始。插枪确认后才执行虚拟设备连接检测与启动，并检查车辆接口、容量、功率和目标电量。</a:t>
            </a:r>
          </a:p>
          <a:p>
            <a:r>
              <a:t>达到目标或用户结束时请求停止；停止应答前仍保持 charging/stopping 保护，禁止拔枪或结算。停止后仍占用枪位，拔枪才释放并进入账单。</a:t>
            </a:r>
          </a:p>
          <a:p>
            <a:r>
              <a:t>本轮修复后台计时器延迟唤醒或停止应答等待导致的目标电量越界：模型只计选定目标内的有效输出电量与时间，仍保留实际经过时间。</a:t>
            </a:r>
          </a:p>
          <a:p>
            <a:r>
              <a:t>The model uses constant limited power for a demo; it does not simulate a production battery charging curve. All hardware acknowledgements are sandbox events.</a:t>
            </a:r>
          </a:p>
          <a:p>
            <a:r>
              <a:t>Sources: chargingModel.js, chargerGateway.js, charging store; charging-target.spec.js and charging-session.spec.js.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中文和英文在渲染时切换，不改写订单中的标准站点、车辆或金额数据；金额仍为人民币。语言与主题保存到当前浏览器。</a:t>
            </a:r>
          </a:p>
          <a:p>
            <a:r>
              <a:t>本轮验证桌面 1440×1000、1024×768 与窄屏 390×844、320×568。九个账户页面复用统一结构，面板提供焦点管理、Esc 与忙碌锁。</a:t>
            </a:r>
          </a:p>
          <a:p>
            <a:r>
              <a:t>Desktop Edge viewport emulation is not a physical phone, Safari, screen-reader, or full WCAG certification.</a:t>
            </a:r>
          </a:p>
          <a:p>
            <a:r>
              <a:t>Sources: src/i18n, AccountPanel.vue, PanelShell.vue, scripts/capture-presentation.mjs, e2e/project.spec.js.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验证日期：2026-10-28。45 个测试文件、427 项单元/组件测试通过；8 条 Playwright 浏览器流程通过。</a:t>
            </a:r>
          </a:p>
          <a:p>
            <a:r>
              <a:t>数据校验：20 个详情分片、2000 站、13 项契约断言。npm 官方源审计已安装依赖：337 个包、0 个已知漏洞。</a:t>
            </a:r>
          </a:p>
          <a:p>
            <a:r>
              <a:t>覆盖率仅统计 store/services：行 89.61%，分支 78.22%，函数 88.70%；不把该范围描述为全项目覆盖率。</a:t>
            </a:r>
          </a:p>
          <a:p>
            <a:r>
              <a:t>真实 SDK 的布局与主题验证另见 TEST_REPORT.md 和 live-review.json。测试通过不是不存在任何缺陷的保证。</a:t>
            </a:r>
          </a:p>
          <a:p>
            <a:r>
              <a:t>No production charger, real payment, physical GPS, or live driving-route acceptance is claimed. CI/deployment state must be checked separately from a local pass.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演示地址：https://mavorx.github.io/ChargingMap/</a:t>
            </a:r>
          </a:p>
          <a:p>
            <a:r>
              <a:t>Repository: https://github.com/mavorx/ChargingMap</a:t>
            </a:r>
          </a:p>
          <a:p>
            <a:r>
              <a:t>在线地址可能仍运行旧部署；本 PPT 的测试与截图来自本轮本地版本。Git 推送不等于 GitHub Pages 已部署。</a:t>
            </a:r>
          </a:p>
          <a:p>
            <a:r>
              <a:t>建议讲解顺序：先看站点与双色地图，再讲数据生成，最后实际演示选桩、插枪、停止、拔枪与支付。</a:t>
            </a:r>
          </a:p>
          <a:p>
            <a:r>
              <a:t>Future work, not current functionality: real operator protocols, payment providers, live availability and server-side accounts.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Relationship Id="rId3" Type="http://schemas.openxmlformats.org/officeDocument/2006/relationships/image" Target="../media/image3.png"/><Relationship Id="rId4" Type="http://schemas.openxmlformats.org/officeDocument/2006/relationships/image" Target="../media/image4.png"/><Relationship Id="rId5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Relationship Id="rId3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6.png"/><Relationship Id="rId4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7.png"/><Relationship Id="rId4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8.png"/><Relationship Id="rId3" Type="http://schemas.openxmlformats.org/officeDocument/2006/relationships/image" Target="../media/image9.png"/><Relationship Id="rId4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0.png"/><Relationship Id="rId3" Type="http://schemas.openxmlformats.org/officeDocument/2006/relationships/image" Target="../media/image11.png"/><Relationship Id="rId4" Type="http://schemas.openxmlformats.org/officeDocument/2006/relationships/image" Target="../media/image12.png"/><Relationship Id="rId5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hyperlink" Target="https://mavorx.github.io/ChargingMap/" TargetMode="External"/><Relationship Id="rId3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2733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02920" y="329184"/>
            <a:ext cx="82296" cy="82296"/>
          </a:xfrm>
          <a:prstGeom prst="rect">
            <a:avLst/>
          </a:prstGeom>
          <a:solidFill>
            <a:srgbClr val="C2FE0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94944" y="256032"/>
            <a:ext cx="1078992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050" b="1">
                <a:solidFill>
                  <a:srgbClr val="99D1CD"/>
                </a:solidFill>
                <a:latin typeface="Segoe UI"/>
                <a:ea typeface="Microsoft YaHei"/>
              </a:rPr>
              <a:t>01 / PROJECT OVERVIEW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676656"/>
            <a:ext cx="11155680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2800" b="1">
                <a:solidFill>
                  <a:srgbClr val="FFFFFF"/>
                </a:solidFill>
                <a:latin typeface="Microsoft YaHei"/>
                <a:ea typeface="Microsoft YaHei"/>
              </a:rPr>
              <a:t/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12064" y="1243584"/>
            <a:ext cx="1106424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500" b="0">
                <a:solidFill>
                  <a:srgbClr val="99D1CD"/>
                </a:solidFill>
                <a:latin typeface="Segoe UI"/>
                <a:ea typeface="Microsoft YaHei"/>
              </a:rPr>
              <a:t/>
            </a:r>
          </a:p>
        </p:txBody>
      </p:sp>
      <p:sp>
        <p:nvSpPr>
          <p:cNvPr id="6" name="Rectangle 5"/>
          <p:cNvSpPr/>
          <p:nvPr/>
        </p:nvSpPr>
        <p:spPr>
          <a:xfrm>
            <a:off x="502920" y="6473952"/>
            <a:ext cx="11173968" cy="8229"/>
          </a:xfrm>
          <a:prstGeom prst="rect">
            <a:avLst/>
          </a:prstGeom>
          <a:solidFill>
            <a:srgbClr val="3354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02920" y="6565392"/>
            <a:ext cx="10058400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800" b="0">
                <a:solidFill>
                  <a:srgbClr val="99D1CD"/>
                </a:solidFill>
                <a:latin typeface="Segoe UI"/>
                <a:ea typeface="Microsoft YaHei"/>
              </a:rPr>
              <a:t>VWer-Charging  /  PROJECT OVERVIEW  /  中英双语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201400" y="6537960"/>
            <a:ext cx="45720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>
                <a:solidFill>
                  <a:srgbClr val="99D1CD"/>
                </a:solidFill>
                <a:latin typeface="Segoe UI"/>
                <a:ea typeface="Microsoft YaHei"/>
              </a:rPr>
              <a:t>01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02920" y="960120"/>
            <a:ext cx="3520440" cy="320040"/>
          </a:xfrm>
          <a:prstGeom prst="roundRect">
            <a:avLst>
              <a:gd name="adj" fmla="val 12000"/>
            </a:avLst>
          </a:prstGeom>
          <a:solidFill>
            <a:srgbClr val="1743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94360" y="1010412"/>
            <a:ext cx="333756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>
                <a:solidFill>
                  <a:srgbClr val="99D1CD"/>
                </a:solidFill>
                <a:latin typeface="Segoe UI"/>
                <a:ea typeface="Microsoft YaHei"/>
              </a:rPr>
              <a:t>SIMULATED EV CHARGING EXPERIENCE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02920" y="1572768"/>
            <a:ext cx="4114800" cy="15179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4400" b="1">
                <a:solidFill>
                  <a:srgbClr val="FFFFFF"/>
                </a:solidFill>
                <a:latin typeface="Segoe UI"/>
                <a:ea typeface="Microsoft YaHei"/>
              </a:rPr>
              <a:t>VWer-</a:t>
            </a:r>
          </a:p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4400" b="1">
                <a:solidFill>
                  <a:srgbClr val="FFFFFF"/>
                </a:solidFill>
                <a:latin typeface="Segoe UI"/>
                <a:ea typeface="Microsoft YaHei"/>
              </a:rPr>
              <a:t>Charging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30352" y="3364992"/>
            <a:ext cx="3931920" cy="10058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2900" b="1">
                <a:solidFill>
                  <a:srgbClr val="FFFFFF"/>
                </a:solidFill>
                <a:latin typeface="Microsoft YaHei"/>
                <a:ea typeface="Microsoft YaHei"/>
              </a:rPr>
              <a:t>让每一次出发，</a:t>
            </a:r>
          </a:p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2900" b="1">
                <a:solidFill>
                  <a:srgbClr val="FFFFFF"/>
                </a:solidFill>
                <a:latin typeface="Microsoft YaHei"/>
                <a:ea typeface="Microsoft YaHei"/>
              </a:rPr>
              <a:t>都满电。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48640" y="4572000"/>
            <a:ext cx="3794760" cy="75895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900" b="0">
                <a:solidFill>
                  <a:srgbClr val="99D1CD"/>
                </a:solidFill>
                <a:latin typeface="Segoe UI"/>
                <a:ea typeface="Microsoft YaHei"/>
              </a:rPr>
              <a:t>One map.</a:t>
            </a:r>
          </a:p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900" b="0">
                <a:solidFill>
                  <a:srgbClr val="99D1CD"/>
                </a:solidFill>
                <a:latin typeface="Segoe UI"/>
                <a:ea typeface="Microsoft YaHei"/>
              </a:rPr>
              <a:t>A connected charging journey.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4782312" y="1083564"/>
            <a:ext cx="6922008" cy="4806950"/>
          </a:xfrm>
          <a:prstGeom prst="roundRect">
            <a:avLst>
              <a:gd name="adj" fmla="val 12000"/>
            </a:avLst>
          </a:prstGeom>
          <a:solidFill>
            <a:srgbClr val="001C2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ounded Rectangle 14"/>
          <p:cNvSpPr/>
          <p:nvPr/>
        </p:nvSpPr>
        <p:spPr>
          <a:xfrm>
            <a:off x="4710988" y="1007668"/>
            <a:ext cx="6954926" cy="4839868"/>
          </a:xfrm>
          <a:prstGeom prst="roundRect">
            <a:avLst>
              <a:gd name="adj" fmla="val 12000"/>
            </a:avLst>
          </a:prstGeom>
          <a:solidFill>
            <a:srgbClr val="0027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6" name="Picture 15" descr="desktop-ligh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727448" y="1024128"/>
            <a:ext cx="6922008" cy="4806950"/>
          </a:xfrm>
          <a:prstGeom prst="rect">
            <a:avLst/>
          </a:prstGeom>
        </p:spPr>
      </p:pic>
      <p:sp>
        <p:nvSpPr>
          <p:cNvPr id="17" name="TextBox 16"/>
          <p:cNvSpPr txBox="1"/>
          <p:nvPr/>
        </p:nvSpPr>
        <p:spPr>
          <a:xfrm>
            <a:off x="548640" y="5916168"/>
            <a:ext cx="393192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200" b="0">
                <a:solidFill>
                  <a:srgbClr val="99D1CD"/>
                </a:solidFill>
                <a:latin typeface="Microsoft YaHei"/>
                <a:ea typeface="Microsoft YaHei"/>
              </a:rPr>
              <a:t>项目介绍  /  2026.10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754880" y="5998464"/>
            <a:ext cx="685800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050" b="0">
                <a:solidFill>
                  <a:srgbClr val="99D1CD"/>
                </a:solidFill>
                <a:latin typeface="Segoe UI"/>
                <a:ea typeface="Microsoft YaHei"/>
              </a:rPr>
              <a:t>模拟站点与交易  /  Simulated stations &amp; transactions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7F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02920" y="329184"/>
            <a:ext cx="82296" cy="82296"/>
          </a:xfrm>
          <a:prstGeom prst="rect">
            <a:avLst/>
          </a:prstGeom>
          <a:solidFill>
            <a:srgbClr val="C2FE0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94944" y="256032"/>
            <a:ext cx="1078992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050" b="1">
                <a:solidFill>
                  <a:srgbClr val="4C6870"/>
                </a:solidFill>
                <a:latin typeface="Segoe UI"/>
                <a:ea typeface="Microsoft YaHei"/>
              </a:rPr>
              <a:t>02 / EXPERIENCE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676656"/>
            <a:ext cx="11155680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2800" b="1">
                <a:solidFill>
                  <a:srgbClr val="002733"/>
                </a:solidFill>
                <a:latin typeface="Microsoft YaHei"/>
                <a:ea typeface="Microsoft YaHei"/>
              </a:rPr>
              <a:t>从找站，到完成充电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12064" y="1243584"/>
            <a:ext cx="1106424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500" b="0">
                <a:solidFill>
                  <a:srgbClr val="4C6870"/>
                </a:solidFill>
                <a:latin typeface="Segoe UI"/>
                <a:ea typeface="Microsoft YaHei"/>
              </a:rPr>
              <a:t>One connected journey — from discovery to completion.</a:t>
            </a:r>
          </a:p>
        </p:txBody>
      </p:sp>
      <p:sp>
        <p:nvSpPr>
          <p:cNvPr id="6" name="Rectangle 5"/>
          <p:cNvSpPr/>
          <p:nvPr/>
        </p:nvSpPr>
        <p:spPr>
          <a:xfrm>
            <a:off x="502920" y="6473952"/>
            <a:ext cx="11173968" cy="8229"/>
          </a:xfrm>
          <a:prstGeom prst="rect">
            <a:avLst/>
          </a:prstGeom>
          <a:solidFill>
            <a:srgbClr val="CCD3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02920" y="6565392"/>
            <a:ext cx="10058400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800" b="0">
                <a:solidFill>
                  <a:srgbClr val="4C6870"/>
                </a:solidFill>
                <a:latin typeface="Segoe UI"/>
                <a:ea typeface="Microsoft YaHei"/>
              </a:rPr>
              <a:t>VWer-Charging  /  PROJECT OVERVIEW  /  中英双语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201400" y="6537960"/>
            <a:ext cx="45720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>
                <a:solidFill>
                  <a:srgbClr val="4C6870"/>
                </a:solidFill>
                <a:latin typeface="Segoe UI"/>
                <a:ea typeface="Microsoft YaHei"/>
              </a:rPr>
              <a:t>02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1956816"/>
            <a:ext cx="566928" cy="43891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2400" b="1">
                <a:solidFill>
                  <a:srgbClr val="008C82"/>
                </a:solidFill>
                <a:latin typeface="Segoe UI"/>
                <a:ea typeface="Microsoft YaHei"/>
              </a:rPr>
              <a:t>01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280160" y="1956816"/>
            <a:ext cx="29718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2300" b="1">
                <a:solidFill>
                  <a:srgbClr val="002733"/>
                </a:solidFill>
                <a:latin typeface="Microsoft YaHei"/>
                <a:ea typeface="Microsoft YaHei"/>
              </a:rPr>
              <a:t>找得到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280160" y="2350008"/>
            <a:ext cx="2971800" cy="4480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250" b="0">
                <a:solidFill>
                  <a:srgbClr val="4C6870"/>
                </a:solidFill>
                <a:latin typeface="Segoe UI"/>
                <a:ea typeface="Microsoft YaHei"/>
              </a:rPr>
              <a:t>Discover the right station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48640" y="3200400"/>
            <a:ext cx="566928" cy="43891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2400" b="1">
                <a:solidFill>
                  <a:srgbClr val="008C82"/>
                </a:solidFill>
                <a:latin typeface="Segoe UI"/>
                <a:ea typeface="Microsoft YaHei"/>
              </a:rPr>
              <a:t>02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280160" y="3200400"/>
            <a:ext cx="29718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2300" b="1">
                <a:solidFill>
                  <a:srgbClr val="002733"/>
                </a:solidFill>
                <a:latin typeface="Microsoft YaHei"/>
                <a:ea typeface="Microsoft YaHei"/>
              </a:rPr>
              <a:t>接得上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280160" y="3593592"/>
            <a:ext cx="2971800" cy="4480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250" b="0">
                <a:solidFill>
                  <a:srgbClr val="4C6870"/>
                </a:solidFill>
                <a:latin typeface="Segoe UI"/>
                <a:ea typeface="Microsoft YaHei"/>
              </a:rPr>
              <a:t>Select, plug in, then start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48640" y="4443984"/>
            <a:ext cx="566928" cy="43891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2400" b="1">
                <a:solidFill>
                  <a:srgbClr val="008C82"/>
                </a:solidFill>
                <a:latin typeface="Segoe UI"/>
                <a:ea typeface="Microsoft YaHei"/>
              </a:rPr>
              <a:t>03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280160" y="4443984"/>
            <a:ext cx="29718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2300" b="1">
                <a:solidFill>
                  <a:srgbClr val="002733"/>
                </a:solidFill>
                <a:latin typeface="Microsoft YaHei"/>
                <a:ea typeface="Microsoft YaHei"/>
              </a:rPr>
              <a:t>结得清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280160" y="4837176"/>
            <a:ext cx="2971800" cy="4480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250" b="0">
                <a:solidFill>
                  <a:srgbClr val="4C6870"/>
                </a:solidFill>
                <a:latin typeface="Segoe UI"/>
                <a:ea typeface="Microsoft YaHei"/>
              </a:rPr>
              <a:t>Stop, unplug, pay &amp; review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4626864" y="1869948"/>
            <a:ext cx="1856231" cy="4017076"/>
          </a:xfrm>
          <a:prstGeom prst="roundRect">
            <a:avLst>
              <a:gd name="adj" fmla="val 12000"/>
            </a:avLst>
          </a:prstGeom>
          <a:solidFill>
            <a:srgbClr val="DDE5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ounded Rectangle 18"/>
          <p:cNvSpPr/>
          <p:nvPr/>
        </p:nvSpPr>
        <p:spPr>
          <a:xfrm>
            <a:off x="4555540" y="1794052"/>
            <a:ext cx="1889150" cy="4049994"/>
          </a:xfrm>
          <a:prstGeom prst="roundRect">
            <a:avLst>
              <a:gd name="adj" fmla="val 12000"/>
            </a:avLst>
          </a:prstGeom>
          <a:solidFill>
            <a:srgbClr val="CCD3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0" name="Picture 19" descr="mobile-detail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0" y="1810512"/>
            <a:ext cx="1856231" cy="4017076"/>
          </a:xfrm>
          <a:prstGeom prst="rect">
            <a:avLst/>
          </a:prstGeom>
        </p:spPr>
      </p:pic>
      <p:sp>
        <p:nvSpPr>
          <p:cNvPr id="21" name="TextBox 20"/>
          <p:cNvSpPr txBox="1"/>
          <p:nvPr/>
        </p:nvSpPr>
        <p:spPr>
          <a:xfrm>
            <a:off x="4462272" y="5989320"/>
            <a:ext cx="214884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150" b="0">
                <a:solidFill>
                  <a:srgbClr val="4C6870"/>
                </a:solidFill>
                <a:latin typeface="Microsoft YaHei"/>
                <a:ea typeface="Microsoft YaHei"/>
              </a:rPr>
              <a:t>发现站点  /  DISCOVER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7022592" y="1869948"/>
            <a:ext cx="1856231" cy="4017076"/>
          </a:xfrm>
          <a:prstGeom prst="roundRect">
            <a:avLst>
              <a:gd name="adj" fmla="val 12000"/>
            </a:avLst>
          </a:prstGeom>
          <a:solidFill>
            <a:srgbClr val="DDE5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ounded Rectangle 22"/>
          <p:cNvSpPr/>
          <p:nvPr/>
        </p:nvSpPr>
        <p:spPr>
          <a:xfrm>
            <a:off x="6951268" y="1794052"/>
            <a:ext cx="1889150" cy="4049994"/>
          </a:xfrm>
          <a:prstGeom prst="roundRect">
            <a:avLst>
              <a:gd name="adj" fmla="val 12000"/>
            </a:avLst>
          </a:prstGeom>
          <a:solidFill>
            <a:srgbClr val="CCD3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4" name="Picture 23" descr="mobile-charging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967728" y="1810512"/>
            <a:ext cx="1856231" cy="4017076"/>
          </a:xfrm>
          <a:prstGeom prst="rect">
            <a:avLst/>
          </a:prstGeom>
        </p:spPr>
      </p:pic>
      <p:sp>
        <p:nvSpPr>
          <p:cNvPr id="25" name="TextBox 24"/>
          <p:cNvSpPr txBox="1"/>
          <p:nvPr/>
        </p:nvSpPr>
        <p:spPr>
          <a:xfrm>
            <a:off x="6858000" y="5989320"/>
            <a:ext cx="214884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150" b="0">
                <a:solidFill>
                  <a:srgbClr val="4C6870"/>
                </a:solidFill>
                <a:latin typeface="Microsoft YaHei"/>
                <a:ea typeface="Microsoft YaHei"/>
              </a:rPr>
              <a:t>充电进度  /  CHARGE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9418320" y="1869948"/>
            <a:ext cx="1856231" cy="4017076"/>
          </a:xfrm>
          <a:prstGeom prst="roundRect">
            <a:avLst>
              <a:gd name="adj" fmla="val 12000"/>
            </a:avLst>
          </a:prstGeom>
          <a:solidFill>
            <a:srgbClr val="DDE5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ounded Rectangle 26"/>
          <p:cNvSpPr/>
          <p:nvPr/>
        </p:nvSpPr>
        <p:spPr>
          <a:xfrm>
            <a:off x="9346996" y="1794052"/>
            <a:ext cx="1889150" cy="4049994"/>
          </a:xfrm>
          <a:prstGeom prst="roundRect">
            <a:avLst>
              <a:gd name="adj" fmla="val 12000"/>
            </a:avLst>
          </a:prstGeom>
          <a:solidFill>
            <a:srgbClr val="CCD3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8" name="Picture 27" descr="mobile-pai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363456" y="1810512"/>
            <a:ext cx="1856231" cy="4017076"/>
          </a:xfrm>
          <a:prstGeom prst="rect">
            <a:avLst/>
          </a:prstGeom>
        </p:spPr>
      </p:pic>
      <p:sp>
        <p:nvSpPr>
          <p:cNvPr id="29" name="TextBox 28"/>
          <p:cNvSpPr txBox="1"/>
          <p:nvPr/>
        </p:nvSpPr>
        <p:spPr>
          <a:xfrm>
            <a:off x="9253728" y="5989320"/>
            <a:ext cx="214884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150" b="0">
                <a:solidFill>
                  <a:srgbClr val="4C6870"/>
                </a:solidFill>
                <a:latin typeface="Microsoft YaHei"/>
                <a:ea typeface="Microsoft YaHei"/>
              </a:rPr>
              <a:t>完成支付  /  COMPLETE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2733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02920" y="329184"/>
            <a:ext cx="82296" cy="82296"/>
          </a:xfrm>
          <a:prstGeom prst="rect">
            <a:avLst/>
          </a:prstGeom>
          <a:solidFill>
            <a:srgbClr val="C2FE0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94944" y="256032"/>
            <a:ext cx="1078992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050" b="1">
                <a:solidFill>
                  <a:srgbClr val="99D1CD"/>
                </a:solidFill>
                <a:latin typeface="Segoe UI"/>
                <a:ea typeface="Microsoft YaHei"/>
              </a:rPr>
              <a:t>03 / SYNTHETIC DATA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676656"/>
            <a:ext cx="11155680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2800" b="1">
                <a:solidFill>
                  <a:srgbClr val="FFFFFF"/>
                </a:solidFill>
                <a:latin typeface="Microsoft YaHei"/>
                <a:ea typeface="Microsoft YaHei"/>
              </a:rPr>
              <a:t>模拟数据，不是随机撒点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12064" y="1243584"/>
            <a:ext cx="1106424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500" b="0">
                <a:solidFill>
                  <a:srgbClr val="99D1CD"/>
                </a:solidFill>
                <a:latin typeface="Segoe UI"/>
                <a:ea typeface="Microsoft YaHei"/>
              </a:rPr>
              <a:t>Designed synthetic data — not uniform random dots.</a:t>
            </a:r>
          </a:p>
        </p:txBody>
      </p:sp>
      <p:sp>
        <p:nvSpPr>
          <p:cNvPr id="6" name="Rectangle 5"/>
          <p:cNvSpPr/>
          <p:nvPr/>
        </p:nvSpPr>
        <p:spPr>
          <a:xfrm>
            <a:off x="502920" y="6473952"/>
            <a:ext cx="11173968" cy="8229"/>
          </a:xfrm>
          <a:prstGeom prst="rect">
            <a:avLst/>
          </a:prstGeom>
          <a:solidFill>
            <a:srgbClr val="3354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02920" y="6565392"/>
            <a:ext cx="10058400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800" b="0">
                <a:solidFill>
                  <a:srgbClr val="99D1CD"/>
                </a:solidFill>
                <a:latin typeface="Segoe UI"/>
                <a:ea typeface="Microsoft YaHei"/>
              </a:rPr>
              <a:t>VWer-Charging  /  PROJECT OVERVIEW  /  中英双语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201400" y="6537960"/>
            <a:ext cx="45720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>
                <a:solidFill>
                  <a:srgbClr val="99D1CD"/>
                </a:solidFill>
                <a:latin typeface="Segoe UI"/>
                <a:ea typeface="Microsoft YaHei"/>
              </a:rPr>
              <a:t>03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57784" y="1869948"/>
            <a:ext cx="6693408" cy="4143538"/>
          </a:xfrm>
          <a:prstGeom prst="roundRect">
            <a:avLst>
              <a:gd name="adj" fmla="val 12000"/>
            </a:avLst>
          </a:prstGeom>
          <a:solidFill>
            <a:srgbClr val="001C2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486460" y="1794052"/>
            <a:ext cx="6726326" cy="4176456"/>
          </a:xfrm>
          <a:prstGeom prst="roundRect">
            <a:avLst>
              <a:gd name="adj" fmla="val 12000"/>
            </a:avLst>
          </a:prstGeom>
          <a:solidFill>
            <a:srgbClr val="0027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1" name="Picture 10" descr="synthetic-distributio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1810512"/>
            <a:ext cx="6693408" cy="4143538"/>
          </a:xfrm>
          <a:prstGeom prst="rect">
            <a:avLst/>
          </a:prstGeom>
        </p:spPr>
      </p:pic>
      <p:sp>
        <p:nvSpPr>
          <p:cNvPr id="12" name="TextBox 11"/>
          <p:cNvSpPr txBox="1"/>
          <p:nvPr/>
        </p:nvSpPr>
        <p:spPr>
          <a:xfrm>
            <a:off x="731520" y="1993392"/>
            <a:ext cx="2057400" cy="521207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3400" b="1">
                <a:solidFill>
                  <a:srgbClr val="C2FE06"/>
                </a:solidFill>
                <a:latin typeface="Segoe UI"/>
                <a:ea typeface="Microsoft YaHei"/>
              </a:rPr>
              <a:t>1,500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49808" y="2615184"/>
            <a:ext cx="420624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200" b="0">
                <a:solidFill>
                  <a:srgbClr val="99D1CD"/>
                </a:solidFill>
                <a:latin typeface="Microsoft YaHei"/>
                <a:ea typeface="Microsoft YaHei"/>
              </a:rPr>
              <a:t>上海模拟站点 / Shanghai demo sites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709160" y="1956816"/>
            <a:ext cx="2121408" cy="6035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99D1CD"/>
                </a:solidFill>
                <a:latin typeface="Microsoft YaHei"/>
                <a:ea typeface="Microsoft YaHei"/>
              </a:rPr>
              <a:t>中心城区局部</a:t>
            </a:r>
          </a:p>
          <a:p>
            <a:pPr algn="ctr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99D1CD"/>
                </a:solidFill>
                <a:latin typeface="Microsoft YaHei"/>
                <a:ea typeface="Microsoft YaHei"/>
              </a:rPr>
              <a:t>Central-area detail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552944" y="1947672"/>
            <a:ext cx="502920" cy="34747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800" b="1">
                <a:solidFill>
                  <a:srgbClr val="C2FE06"/>
                </a:solidFill>
                <a:latin typeface="Segoe UI"/>
                <a:ea typeface="Microsoft YaHei"/>
              </a:rPr>
              <a:t>01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257031" y="1920240"/>
            <a:ext cx="324612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2000" b="1">
                <a:solidFill>
                  <a:srgbClr val="FFFFFF"/>
                </a:solidFill>
                <a:latin typeface="Microsoft YaHei"/>
                <a:ea typeface="Microsoft YaHei"/>
              </a:rPr>
              <a:t>道路骨架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257031" y="2313432"/>
            <a:ext cx="3246120" cy="4480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250" b="0">
                <a:solidFill>
                  <a:srgbClr val="99D1CD"/>
                </a:solidFill>
                <a:latin typeface="Segoe UI"/>
                <a:ea typeface="Microsoft YaHei"/>
              </a:rPr>
              <a:t>Road-guided sampling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552944" y="2935224"/>
            <a:ext cx="502920" cy="34747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800" b="1">
                <a:solidFill>
                  <a:srgbClr val="C2FE06"/>
                </a:solidFill>
                <a:latin typeface="Segoe UI"/>
                <a:ea typeface="Microsoft YaHei"/>
              </a:rPr>
              <a:t>02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257031" y="2907792"/>
            <a:ext cx="324612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2000" b="1">
                <a:solidFill>
                  <a:srgbClr val="FFFFFF"/>
                </a:solidFill>
                <a:latin typeface="Microsoft YaHei"/>
                <a:ea typeface="Microsoft YaHei"/>
              </a:rPr>
              <a:t>多中心需求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257031" y="3300984"/>
            <a:ext cx="3246120" cy="4480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250" b="0">
                <a:solidFill>
                  <a:srgbClr val="99D1CD"/>
                </a:solidFill>
                <a:latin typeface="Segoe UI"/>
                <a:ea typeface="Microsoft YaHei"/>
              </a:rPr>
              <a:t>Polycentric demand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552944" y="3922776"/>
            <a:ext cx="502920" cy="34747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800" b="1">
                <a:solidFill>
                  <a:srgbClr val="C2FE06"/>
                </a:solidFill>
                <a:latin typeface="Segoe UI"/>
                <a:ea typeface="Microsoft YaHei"/>
              </a:rPr>
              <a:t>03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257031" y="3895344"/>
            <a:ext cx="324612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2000" b="1">
                <a:solidFill>
                  <a:srgbClr val="FFFFFF"/>
                </a:solidFill>
                <a:latin typeface="Microsoft YaHei"/>
                <a:ea typeface="Microsoft YaHei"/>
              </a:rPr>
              <a:t>街区疏密变化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257031" y="4288536"/>
            <a:ext cx="3246120" cy="4480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250" b="0">
                <a:solidFill>
                  <a:srgbClr val="99D1CD"/>
                </a:solidFill>
                <a:latin typeface="Segoe UI"/>
                <a:ea typeface="Microsoft YaHei"/>
              </a:rPr>
              <a:t>Neighborhood variation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552944" y="4910328"/>
            <a:ext cx="502920" cy="34747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800" b="1">
                <a:solidFill>
                  <a:srgbClr val="C2FE06"/>
                </a:solidFill>
                <a:latin typeface="Segoe UI"/>
                <a:ea typeface="Microsoft YaHei"/>
              </a:rPr>
              <a:t>04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257031" y="4882896"/>
            <a:ext cx="324612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2000" b="1">
                <a:solidFill>
                  <a:srgbClr val="FFFFFF"/>
                </a:solidFill>
                <a:latin typeface="Microsoft YaHei"/>
                <a:ea typeface="Microsoft YaHei"/>
              </a:rPr>
              <a:t>停车区域偏移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257031" y="5276088"/>
            <a:ext cx="3246120" cy="4480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250" b="0">
                <a:solidFill>
                  <a:srgbClr val="99D1CD"/>
                </a:solidFill>
                <a:latin typeface="Segoe UI"/>
                <a:ea typeface="Microsoft YaHei"/>
              </a:rPr>
              <a:t>Parking-area offsets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566928" y="6108192"/>
            <a:ext cx="1097280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150" b="0">
                <a:solidFill>
                  <a:srgbClr val="99D1CD"/>
                </a:solidFill>
                <a:latin typeface="Microsoft YaHei"/>
                <a:ea typeface="Microsoft YaHei"/>
              </a:rPr>
              <a:t>110 m 最小间距 / min gap  ·  ≤ 5 站 / sites within 250 m  ·  35–180 m 偏移 / offset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7F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02920" y="329184"/>
            <a:ext cx="82296" cy="82296"/>
          </a:xfrm>
          <a:prstGeom prst="rect">
            <a:avLst/>
          </a:prstGeom>
          <a:solidFill>
            <a:srgbClr val="C2FE0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94944" y="256032"/>
            <a:ext cx="1078992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050" b="1">
                <a:solidFill>
                  <a:srgbClr val="4C6870"/>
                </a:solidFill>
                <a:latin typeface="Segoe UI"/>
                <a:ea typeface="Microsoft YaHei"/>
              </a:rPr>
              <a:t>04 / DATA ENGINEERING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676656"/>
            <a:ext cx="11155680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2800" b="1">
                <a:solidFill>
                  <a:srgbClr val="002733"/>
                </a:solidFill>
                <a:latin typeface="Microsoft YaHei"/>
                <a:ea typeface="Microsoft YaHei"/>
              </a:rPr>
              <a:t>可复现的数据，按需抵达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12064" y="1243584"/>
            <a:ext cx="1106424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500" b="0">
                <a:solidFill>
                  <a:srgbClr val="4C6870"/>
                </a:solidFill>
                <a:latin typeface="Segoe UI"/>
                <a:ea typeface="Microsoft YaHei"/>
              </a:rPr>
              <a:t>Reproducible data. On-demand detail.</a:t>
            </a:r>
          </a:p>
        </p:txBody>
      </p:sp>
      <p:sp>
        <p:nvSpPr>
          <p:cNvPr id="6" name="Rectangle 5"/>
          <p:cNvSpPr/>
          <p:nvPr/>
        </p:nvSpPr>
        <p:spPr>
          <a:xfrm>
            <a:off x="502920" y="6473952"/>
            <a:ext cx="11173968" cy="8229"/>
          </a:xfrm>
          <a:prstGeom prst="rect">
            <a:avLst/>
          </a:prstGeom>
          <a:solidFill>
            <a:srgbClr val="CCD3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02920" y="6565392"/>
            <a:ext cx="10058400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800" b="0">
                <a:solidFill>
                  <a:srgbClr val="4C6870"/>
                </a:solidFill>
                <a:latin typeface="Segoe UI"/>
                <a:ea typeface="Microsoft YaHei"/>
              </a:rPr>
              <a:t>VWer-Charging  /  PROJECT OVERVIEW  /  中英双语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201400" y="6537960"/>
            <a:ext cx="45720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>
                <a:solidFill>
                  <a:srgbClr val="4C6870"/>
                </a:solidFill>
                <a:latin typeface="Segoe UI"/>
                <a:ea typeface="Microsoft YaHei"/>
              </a:rPr>
              <a:t>04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02920" y="2029968"/>
            <a:ext cx="2560320" cy="2615184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0160">
            <a:solidFill>
              <a:srgbClr val="CCD3D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04088" y="2313432"/>
            <a:ext cx="2194560" cy="85953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4800" b="1">
                <a:solidFill>
                  <a:srgbClr val="008C82"/>
                </a:solidFill>
                <a:latin typeface="Segoe UI"/>
                <a:ea typeface="Microsoft YaHei"/>
              </a:rPr>
              <a:t>42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13232" y="3374136"/>
            <a:ext cx="2139696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800" b="1">
                <a:solidFill>
                  <a:srgbClr val="002733"/>
                </a:solidFill>
                <a:latin typeface="Microsoft YaHei"/>
                <a:ea typeface="Microsoft YaHei"/>
              </a:rPr>
              <a:t>固定随机种子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13232" y="3767328"/>
            <a:ext cx="2139696" cy="4480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250" b="0">
                <a:solidFill>
                  <a:srgbClr val="4C6870"/>
                </a:solidFill>
                <a:latin typeface="Segoe UI"/>
                <a:ea typeface="Microsoft YaHei"/>
              </a:rPr>
              <a:t>Deterministic seed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118104" y="2999232"/>
            <a:ext cx="256032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800" b="0">
                <a:solidFill>
                  <a:srgbClr val="4C6870"/>
                </a:solidFill>
                <a:latin typeface="Segoe UI"/>
                <a:ea typeface="Microsoft YaHei"/>
              </a:rPr>
              <a:t>→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3374136" y="2029968"/>
            <a:ext cx="2560320" cy="2615184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0160">
            <a:solidFill>
              <a:srgbClr val="CCD3D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3575304" y="2313432"/>
            <a:ext cx="2194560" cy="85953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4800" b="1">
                <a:solidFill>
                  <a:srgbClr val="008C82"/>
                </a:solidFill>
                <a:latin typeface="Segoe UI"/>
                <a:ea typeface="Microsoft YaHei"/>
              </a:rPr>
              <a:t>2,000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584448" y="3374136"/>
            <a:ext cx="2139696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800" b="1">
                <a:solidFill>
                  <a:srgbClr val="002733"/>
                </a:solidFill>
                <a:latin typeface="Microsoft YaHei"/>
                <a:ea typeface="Microsoft YaHei"/>
              </a:rPr>
              <a:t>上海 + 合肥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584448" y="3767328"/>
            <a:ext cx="2139696" cy="4480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250" b="0">
                <a:solidFill>
                  <a:srgbClr val="4C6870"/>
                </a:solidFill>
                <a:latin typeface="Segoe UI"/>
                <a:ea typeface="Microsoft YaHei"/>
              </a:rPr>
              <a:t>1,500 Shanghai + 500 Hefei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989320" y="2999232"/>
            <a:ext cx="256032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800" b="0">
                <a:solidFill>
                  <a:srgbClr val="4C6870"/>
                </a:solidFill>
                <a:latin typeface="Segoe UI"/>
                <a:ea typeface="Microsoft YaHei"/>
              </a:rPr>
              <a:t>→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6245352" y="2029968"/>
            <a:ext cx="2560320" cy="2615184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0160">
            <a:solidFill>
              <a:srgbClr val="CCD3D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446520" y="2313432"/>
            <a:ext cx="2194560" cy="85953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4800" b="1">
                <a:solidFill>
                  <a:srgbClr val="008C82"/>
                </a:solidFill>
                <a:latin typeface="Segoe UI"/>
                <a:ea typeface="Microsoft YaHei"/>
              </a:rPr>
              <a:t>20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455664" y="3374136"/>
            <a:ext cx="2139696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800" b="1">
                <a:solidFill>
                  <a:srgbClr val="002733"/>
                </a:solidFill>
                <a:latin typeface="Microsoft YaHei"/>
                <a:ea typeface="Microsoft YaHei"/>
              </a:rPr>
              <a:t>每片 100 站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455664" y="3767328"/>
            <a:ext cx="2139696" cy="4480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250" b="0">
                <a:solidFill>
                  <a:srgbClr val="4C6870"/>
                </a:solidFill>
                <a:latin typeface="Segoe UI"/>
                <a:ea typeface="Microsoft YaHei"/>
              </a:rPr>
              <a:t>100 stations per detail shard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860536" y="2999232"/>
            <a:ext cx="256032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800" b="0">
                <a:solidFill>
                  <a:srgbClr val="4C6870"/>
                </a:solidFill>
                <a:latin typeface="Segoe UI"/>
                <a:ea typeface="Microsoft YaHei"/>
              </a:rPr>
              <a:t>→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9116568" y="2029968"/>
            <a:ext cx="2560320" cy="2615184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0160">
            <a:solidFill>
              <a:srgbClr val="CCD3D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9317736" y="2313432"/>
            <a:ext cx="2194560" cy="85953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4800" b="1">
                <a:solidFill>
                  <a:srgbClr val="008C82"/>
                </a:solidFill>
                <a:latin typeface="Segoe UI"/>
                <a:ea typeface="Microsoft YaHei"/>
              </a:rPr>
              <a:t>1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9326880" y="3374136"/>
            <a:ext cx="2139696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800" b="1">
                <a:solidFill>
                  <a:srgbClr val="002733"/>
                </a:solidFill>
                <a:latin typeface="Microsoft YaHei"/>
                <a:ea typeface="Microsoft YaHei"/>
              </a:rPr>
              <a:t>同片请求共享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9326880" y="3767328"/>
            <a:ext cx="2139696" cy="4480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250" b="0">
                <a:solidFill>
                  <a:srgbClr val="4C6870"/>
                </a:solidFill>
                <a:latin typeface="Segoe UI"/>
                <a:ea typeface="Microsoft YaHei"/>
              </a:rPr>
              <a:t>One in-flight request per shard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502920" y="5184648"/>
            <a:ext cx="11173968" cy="850392"/>
          </a:xfrm>
          <a:prstGeom prst="roundRect">
            <a:avLst>
              <a:gd name="adj" fmla="val 12000"/>
            </a:avLst>
          </a:prstGeom>
          <a:solidFill>
            <a:srgbClr val="0027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777240" y="5394960"/>
            <a:ext cx="5303520" cy="35661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2100" b="1">
                <a:solidFill>
                  <a:srgbClr val="FFFFFF"/>
                </a:solidFill>
                <a:latin typeface="Microsoft YaHei"/>
                <a:ea typeface="Microsoft YaHei"/>
              </a:rPr>
              <a:t>同一参数，逐字节一致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5989320" y="5449824"/>
            <a:ext cx="5303520" cy="3108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700" b="0">
                <a:solidFill>
                  <a:srgbClr val="99D1CD"/>
                </a:solidFill>
                <a:latin typeface="Segoe UI"/>
                <a:ea typeface="Microsoft YaHei"/>
              </a:rPr>
              <a:t>Same parameters. Byte-identical output.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7F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02920" y="329184"/>
            <a:ext cx="82296" cy="82296"/>
          </a:xfrm>
          <a:prstGeom prst="rect">
            <a:avLst/>
          </a:prstGeom>
          <a:solidFill>
            <a:srgbClr val="C2FE0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94944" y="256032"/>
            <a:ext cx="1078992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050" b="1">
                <a:solidFill>
                  <a:srgbClr val="4C6870"/>
                </a:solidFill>
                <a:latin typeface="Segoe UI"/>
                <a:ea typeface="Microsoft YaHei"/>
              </a:rPr>
              <a:t>05 / DUAL-THEME MAP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676656"/>
            <a:ext cx="11155680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2800" b="1">
                <a:solidFill>
                  <a:srgbClr val="002733"/>
                </a:solidFill>
                <a:latin typeface="Microsoft YaHei"/>
                <a:ea typeface="Microsoft YaHei"/>
              </a:rPr>
              <a:t>双色地图，只换观感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12064" y="1243584"/>
            <a:ext cx="1106424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500" b="0">
                <a:solidFill>
                  <a:srgbClr val="4C6870"/>
                </a:solidFill>
                <a:latin typeface="Segoe UI"/>
                <a:ea typeface="Microsoft YaHei"/>
              </a:rPr>
              <a:t>Two themes. One map. No style reload.</a:t>
            </a:r>
          </a:p>
        </p:txBody>
      </p:sp>
      <p:sp>
        <p:nvSpPr>
          <p:cNvPr id="6" name="Rectangle 5"/>
          <p:cNvSpPr/>
          <p:nvPr/>
        </p:nvSpPr>
        <p:spPr>
          <a:xfrm>
            <a:off x="502920" y="6473952"/>
            <a:ext cx="11173968" cy="8229"/>
          </a:xfrm>
          <a:prstGeom prst="rect">
            <a:avLst/>
          </a:prstGeom>
          <a:solidFill>
            <a:srgbClr val="CCD3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02920" y="6565392"/>
            <a:ext cx="10058400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800" b="0">
                <a:solidFill>
                  <a:srgbClr val="4C6870"/>
                </a:solidFill>
                <a:latin typeface="Segoe UI"/>
                <a:ea typeface="Microsoft YaHei"/>
              </a:rPr>
              <a:t>VWer-Charging  /  PROJECT OVERVIEW  /  中英双语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201400" y="6537960"/>
            <a:ext cx="45720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>
                <a:solidFill>
                  <a:srgbClr val="4C6870"/>
                </a:solidFill>
                <a:latin typeface="Segoe UI"/>
                <a:ea typeface="Microsoft YaHei"/>
              </a:rPr>
              <a:t>05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02920" y="1737360"/>
            <a:ext cx="1444752" cy="320040"/>
          </a:xfrm>
          <a:prstGeom prst="roundRect">
            <a:avLst>
              <a:gd name="adj" fmla="val 12000"/>
            </a:avLst>
          </a:prstGeom>
          <a:solidFill>
            <a:srgbClr val="008C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94360" y="1787651"/>
            <a:ext cx="1261872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>
                <a:solidFill>
                  <a:srgbClr val="FFFFFF"/>
                </a:solidFill>
                <a:latin typeface="Segoe UI"/>
                <a:ea typeface="Microsoft YaHei"/>
              </a:rPr>
              <a:t>白天 / LIGHT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281928" y="1737360"/>
            <a:ext cx="1444752" cy="320040"/>
          </a:xfrm>
          <a:prstGeom prst="roundRect">
            <a:avLst>
              <a:gd name="adj" fmla="val 12000"/>
            </a:avLst>
          </a:prstGeom>
          <a:solidFill>
            <a:srgbClr val="0027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373368" y="1787651"/>
            <a:ext cx="1261872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>
                <a:solidFill>
                  <a:srgbClr val="FFFFFF"/>
                </a:solidFill>
                <a:latin typeface="Segoe UI"/>
                <a:ea typeface="Microsoft YaHei"/>
              </a:rPr>
              <a:t>夜间 / DARK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557784" y="2253996"/>
            <a:ext cx="5394960" cy="3746500"/>
          </a:xfrm>
          <a:prstGeom prst="roundRect">
            <a:avLst>
              <a:gd name="adj" fmla="val 12000"/>
            </a:avLst>
          </a:prstGeom>
          <a:solidFill>
            <a:srgbClr val="DDE5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ounded Rectangle 13"/>
          <p:cNvSpPr/>
          <p:nvPr/>
        </p:nvSpPr>
        <p:spPr>
          <a:xfrm>
            <a:off x="486460" y="2178100"/>
            <a:ext cx="5427878" cy="3779418"/>
          </a:xfrm>
          <a:prstGeom prst="roundRect">
            <a:avLst>
              <a:gd name="adj" fmla="val 12000"/>
            </a:avLst>
          </a:prstGeom>
          <a:solidFill>
            <a:srgbClr val="CCD3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5" name="Picture 14" descr="desktop-ligh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2194560"/>
            <a:ext cx="5394960" cy="3746500"/>
          </a:xfrm>
          <a:prstGeom prst="rect">
            <a:avLst/>
          </a:prstGeom>
        </p:spPr>
      </p:pic>
      <p:sp>
        <p:nvSpPr>
          <p:cNvPr id="16" name="Rounded Rectangle 15"/>
          <p:cNvSpPr/>
          <p:nvPr/>
        </p:nvSpPr>
        <p:spPr>
          <a:xfrm>
            <a:off x="6336792" y="2253996"/>
            <a:ext cx="5394960" cy="3746500"/>
          </a:xfrm>
          <a:prstGeom prst="roundRect">
            <a:avLst>
              <a:gd name="adj" fmla="val 12000"/>
            </a:avLst>
          </a:prstGeom>
          <a:solidFill>
            <a:srgbClr val="DDE5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ounded Rectangle 16"/>
          <p:cNvSpPr/>
          <p:nvPr/>
        </p:nvSpPr>
        <p:spPr>
          <a:xfrm>
            <a:off x="6265468" y="2178100"/>
            <a:ext cx="5427878" cy="3779418"/>
          </a:xfrm>
          <a:prstGeom prst="roundRect">
            <a:avLst>
              <a:gd name="adj" fmla="val 12000"/>
            </a:avLst>
          </a:prstGeom>
          <a:solidFill>
            <a:srgbClr val="CCD3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8" name="Picture 17" descr="desktop-dark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81928" y="2194560"/>
            <a:ext cx="5394960" cy="3746500"/>
          </a:xfrm>
          <a:prstGeom prst="rect">
            <a:avLst/>
          </a:prstGeom>
        </p:spPr>
      </p:pic>
      <p:sp>
        <p:nvSpPr>
          <p:cNvPr id="19" name="TextBox 18"/>
          <p:cNvSpPr txBox="1"/>
          <p:nvPr/>
        </p:nvSpPr>
        <p:spPr>
          <a:xfrm>
            <a:off x="548640" y="6053328"/>
            <a:ext cx="457200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2900" b="1">
                <a:solidFill>
                  <a:srgbClr val="008C82"/>
                </a:solidFill>
                <a:latin typeface="Segoe UI"/>
                <a:ea typeface="Microsoft YaHei"/>
              </a:rPr>
              <a:t>0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106424" y="6071616"/>
            <a:ext cx="105156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>
                <a:solidFill>
                  <a:srgbClr val="4C6870"/>
                </a:solidFill>
                <a:latin typeface="Microsoft YaHei"/>
                <a:ea typeface="Microsoft YaHei"/>
              </a:rPr>
              <a:t>新增样式 / 瓦片请求  ·  New style / tile requests during toggles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7F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02920" y="329184"/>
            <a:ext cx="82296" cy="82296"/>
          </a:xfrm>
          <a:prstGeom prst="rect">
            <a:avLst/>
          </a:prstGeom>
          <a:solidFill>
            <a:srgbClr val="C2FE0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94944" y="256032"/>
            <a:ext cx="1078992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050" b="1">
                <a:solidFill>
                  <a:srgbClr val="4C6870"/>
                </a:solidFill>
                <a:latin typeface="Segoe UI"/>
                <a:ea typeface="Microsoft YaHei"/>
              </a:rPr>
              <a:t>06 / CONNECTED DISCOVERY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676656"/>
            <a:ext cx="11155680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2800" b="1">
                <a:solidFill>
                  <a:srgbClr val="002733"/>
                </a:solidFill>
                <a:latin typeface="Microsoft YaHei"/>
                <a:ea typeface="Microsoft YaHei"/>
              </a:rPr>
              <a:t>地图、列表、筛选，一个答案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12064" y="1243584"/>
            <a:ext cx="1106424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500" b="0">
                <a:solidFill>
                  <a:srgbClr val="4C6870"/>
                </a:solidFill>
                <a:latin typeface="Segoe UI"/>
                <a:ea typeface="Microsoft YaHei"/>
              </a:rPr>
              <a:t>Map, list and filters stay in sync.</a:t>
            </a:r>
          </a:p>
        </p:txBody>
      </p:sp>
      <p:sp>
        <p:nvSpPr>
          <p:cNvPr id="6" name="Rectangle 5"/>
          <p:cNvSpPr/>
          <p:nvPr/>
        </p:nvSpPr>
        <p:spPr>
          <a:xfrm>
            <a:off x="502920" y="6473952"/>
            <a:ext cx="11173968" cy="8229"/>
          </a:xfrm>
          <a:prstGeom prst="rect">
            <a:avLst/>
          </a:prstGeom>
          <a:solidFill>
            <a:srgbClr val="CCD3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02920" y="6565392"/>
            <a:ext cx="10058400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800" b="0">
                <a:solidFill>
                  <a:srgbClr val="4C6870"/>
                </a:solidFill>
                <a:latin typeface="Segoe UI"/>
                <a:ea typeface="Microsoft YaHei"/>
              </a:rPr>
              <a:t>VWer-Charging  /  PROJECT OVERVIEW  /  中英双语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201400" y="6537960"/>
            <a:ext cx="45720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>
                <a:solidFill>
                  <a:srgbClr val="4C6870"/>
                </a:solidFill>
                <a:latin typeface="Segoe UI"/>
                <a:ea typeface="Microsoft YaHei"/>
              </a:rPr>
              <a:t>06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57784" y="1869948"/>
            <a:ext cx="6419088" cy="4457700"/>
          </a:xfrm>
          <a:prstGeom prst="roundRect">
            <a:avLst>
              <a:gd name="adj" fmla="val 12000"/>
            </a:avLst>
          </a:prstGeom>
          <a:solidFill>
            <a:srgbClr val="DDE5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486460" y="1794052"/>
            <a:ext cx="6452006" cy="4490618"/>
          </a:xfrm>
          <a:prstGeom prst="roundRect">
            <a:avLst>
              <a:gd name="adj" fmla="val 12000"/>
            </a:avLst>
          </a:prstGeom>
          <a:solidFill>
            <a:srgbClr val="CCD3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1" name="Picture 10" descr="desktop-ligh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1810512"/>
            <a:ext cx="6419088" cy="4457700"/>
          </a:xfrm>
          <a:prstGeom prst="rect">
            <a:avLst/>
          </a:prstGeom>
        </p:spPr>
      </p:pic>
      <p:sp>
        <p:nvSpPr>
          <p:cNvPr id="12" name="Rounded Rectangle 11"/>
          <p:cNvSpPr/>
          <p:nvPr/>
        </p:nvSpPr>
        <p:spPr>
          <a:xfrm>
            <a:off x="7324344" y="1869948"/>
            <a:ext cx="1892807" cy="4218257"/>
          </a:xfrm>
          <a:prstGeom prst="roundRect">
            <a:avLst>
              <a:gd name="adj" fmla="val 12000"/>
            </a:avLst>
          </a:prstGeom>
          <a:solidFill>
            <a:srgbClr val="DDE5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7253020" y="1794052"/>
            <a:ext cx="1925726" cy="4251176"/>
          </a:xfrm>
          <a:prstGeom prst="roundRect">
            <a:avLst>
              <a:gd name="adj" fmla="val 12000"/>
            </a:avLst>
          </a:prstGeom>
          <a:solidFill>
            <a:srgbClr val="CCD3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4" name="Picture 13" descr="desktop-filter-crop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269480" y="1810512"/>
            <a:ext cx="1892807" cy="4218257"/>
          </a:xfrm>
          <a:prstGeom prst="rect">
            <a:avLst/>
          </a:prstGeom>
        </p:spPr>
      </p:pic>
      <p:sp>
        <p:nvSpPr>
          <p:cNvPr id="15" name="Rectangle 14"/>
          <p:cNvSpPr/>
          <p:nvPr/>
        </p:nvSpPr>
        <p:spPr>
          <a:xfrm>
            <a:off x="9646920" y="2121408"/>
            <a:ext cx="64008" cy="292608"/>
          </a:xfrm>
          <a:prstGeom prst="rect">
            <a:avLst/>
          </a:prstGeom>
          <a:solidFill>
            <a:srgbClr val="008C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9875520" y="2057400"/>
            <a:ext cx="1874519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900" b="1">
                <a:solidFill>
                  <a:srgbClr val="002733"/>
                </a:solidFill>
                <a:latin typeface="Microsoft YaHei"/>
                <a:ea typeface="Microsoft YaHei"/>
              </a:rPr>
              <a:t>视野联动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875520" y="2450592"/>
            <a:ext cx="1874519" cy="4480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250" b="0">
                <a:solidFill>
                  <a:srgbClr val="4C6870"/>
                </a:solidFill>
                <a:latin typeface="Segoe UI"/>
                <a:ea typeface="Microsoft YaHei"/>
              </a:rPr>
              <a:t>Viewport-aware results</a:t>
            </a:r>
          </a:p>
        </p:txBody>
      </p:sp>
      <p:sp>
        <p:nvSpPr>
          <p:cNvPr id="18" name="Rectangle 17"/>
          <p:cNvSpPr/>
          <p:nvPr/>
        </p:nvSpPr>
        <p:spPr>
          <a:xfrm>
            <a:off x="9646920" y="3364992"/>
            <a:ext cx="64008" cy="292608"/>
          </a:xfrm>
          <a:prstGeom prst="rect">
            <a:avLst/>
          </a:prstGeom>
          <a:solidFill>
            <a:srgbClr val="008C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9875520" y="3300984"/>
            <a:ext cx="1874519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900" b="1">
                <a:solidFill>
                  <a:srgbClr val="002733"/>
                </a:solidFill>
                <a:latin typeface="Microsoft YaHei"/>
                <a:ea typeface="Microsoft YaHei"/>
              </a:rPr>
              <a:t>组合筛选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875520" y="3694176"/>
            <a:ext cx="1874519" cy="4480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250" b="0">
                <a:solidFill>
                  <a:srgbClr val="4C6870"/>
                </a:solidFill>
                <a:latin typeface="Segoe UI"/>
                <a:ea typeface="Microsoft YaHei"/>
              </a:rPr>
              <a:t>Combine availability,</a:t>
            </a:r>
          </a:p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250" b="0">
                <a:solidFill>
                  <a:srgbClr val="4C6870"/>
                </a:solidFill>
                <a:latin typeface="Segoe UI"/>
                <a:ea typeface="Microsoft YaHei"/>
              </a:rPr>
              <a:t>connector &amp; power</a:t>
            </a:r>
          </a:p>
        </p:txBody>
      </p:sp>
      <p:sp>
        <p:nvSpPr>
          <p:cNvPr id="21" name="Rectangle 20"/>
          <p:cNvSpPr/>
          <p:nvPr/>
        </p:nvSpPr>
        <p:spPr>
          <a:xfrm>
            <a:off x="9646920" y="4608576"/>
            <a:ext cx="64008" cy="292608"/>
          </a:xfrm>
          <a:prstGeom prst="rect">
            <a:avLst/>
          </a:prstGeom>
          <a:solidFill>
            <a:srgbClr val="008C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9875520" y="4544568"/>
            <a:ext cx="1874519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900" b="1">
                <a:solidFill>
                  <a:srgbClr val="002733"/>
                </a:solidFill>
                <a:latin typeface="Microsoft YaHei"/>
                <a:ea typeface="Microsoft YaHei"/>
              </a:rPr>
              <a:t>可用数同步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9875520" y="4937760"/>
            <a:ext cx="1874519" cy="4480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250" b="0">
                <a:solidFill>
                  <a:srgbClr val="4C6870"/>
                </a:solidFill>
                <a:latin typeface="Segoe UI"/>
                <a:ea typeface="Microsoft YaHei"/>
              </a:rPr>
              <a:t>Live marker &amp;</a:t>
            </a:r>
          </a:p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250" b="0">
                <a:solidFill>
                  <a:srgbClr val="4C6870"/>
                </a:solidFill>
                <a:latin typeface="Segoe UI"/>
                <a:ea typeface="Microsoft YaHei"/>
              </a:rPr>
              <a:t>cluster updates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7F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02920" y="329184"/>
            <a:ext cx="82296" cy="82296"/>
          </a:xfrm>
          <a:prstGeom prst="rect">
            <a:avLst/>
          </a:prstGeom>
          <a:solidFill>
            <a:srgbClr val="C2FE0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94944" y="256032"/>
            <a:ext cx="1078992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050" b="1">
                <a:solidFill>
                  <a:srgbClr val="4C6870"/>
                </a:solidFill>
                <a:latin typeface="Segoe UI"/>
                <a:ea typeface="Microsoft YaHei"/>
              </a:rPr>
              <a:t>07 / CHARGING STATE MACHINE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676656"/>
            <a:ext cx="11155680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2800" b="1">
                <a:solidFill>
                  <a:srgbClr val="002733"/>
                </a:solidFill>
                <a:latin typeface="Microsoft YaHei"/>
                <a:ea typeface="Microsoft YaHei"/>
              </a:rPr>
              <a:t>充电交互，遵循现实顺序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12064" y="1243584"/>
            <a:ext cx="1106424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500" b="0">
                <a:solidFill>
                  <a:srgbClr val="4C6870"/>
                </a:solidFill>
                <a:latin typeface="Segoe UI"/>
                <a:ea typeface="Microsoft YaHei"/>
              </a:rPr>
              <a:t>A charging flow that makes sense.</a:t>
            </a:r>
          </a:p>
        </p:txBody>
      </p:sp>
      <p:sp>
        <p:nvSpPr>
          <p:cNvPr id="6" name="Rectangle 5"/>
          <p:cNvSpPr/>
          <p:nvPr/>
        </p:nvSpPr>
        <p:spPr>
          <a:xfrm>
            <a:off x="502920" y="6473952"/>
            <a:ext cx="11173968" cy="8229"/>
          </a:xfrm>
          <a:prstGeom prst="rect">
            <a:avLst/>
          </a:prstGeom>
          <a:solidFill>
            <a:srgbClr val="CCD3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02920" y="6565392"/>
            <a:ext cx="10058400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800" b="0">
                <a:solidFill>
                  <a:srgbClr val="4C6870"/>
                </a:solidFill>
                <a:latin typeface="Segoe UI"/>
                <a:ea typeface="Microsoft YaHei"/>
              </a:rPr>
              <a:t>VWer-Charging  /  PROJECT OVERVIEW  /  中英双语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201400" y="6537960"/>
            <a:ext cx="45720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>
                <a:solidFill>
                  <a:srgbClr val="4C6870"/>
                </a:solidFill>
                <a:latin typeface="Segoe UI"/>
                <a:ea typeface="Microsoft YaHei"/>
              </a:rPr>
              <a:t>07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02920" y="2139696"/>
            <a:ext cx="1572768" cy="950976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0160">
            <a:solidFill>
              <a:srgbClr val="CCD3D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12648" y="2313432"/>
            <a:ext cx="1353312" cy="30175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700" b="1">
                <a:solidFill>
                  <a:srgbClr val="002733"/>
                </a:solidFill>
                <a:latin typeface="Microsoft YaHei"/>
                <a:ea typeface="Microsoft YaHei"/>
              </a:rPr>
              <a:t>明确选桩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76072" y="2706624"/>
            <a:ext cx="1426464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050" b="0">
                <a:solidFill>
                  <a:srgbClr val="4C6870"/>
                </a:solidFill>
                <a:latin typeface="Segoe UI"/>
                <a:ea typeface="Microsoft YaHei"/>
              </a:rPr>
              <a:t>SELECT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112264" y="2432303"/>
            <a:ext cx="1828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500" b="0">
                <a:solidFill>
                  <a:srgbClr val="008C82"/>
                </a:solidFill>
                <a:latin typeface="Segoe UI"/>
                <a:ea typeface="Microsoft YaHei"/>
              </a:rPr>
              <a:t>→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2276856" y="2139696"/>
            <a:ext cx="1572768" cy="950976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0160">
            <a:solidFill>
              <a:srgbClr val="CCD3D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2386584" y="2313432"/>
            <a:ext cx="1353312" cy="30175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700" b="1">
                <a:solidFill>
                  <a:srgbClr val="002733"/>
                </a:solidFill>
                <a:latin typeface="Microsoft YaHei"/>
                <a:ea typeface="Microsoft YaHei"/>
              </a:rPr>
              <a:t>接枪确认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350008" y="2706624"/>
            <a:ext cx="1426464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050" b="0">
                <a:solidFill>
                  <a:srgbClr val="4C6870"/>
                </a:solidFill>
                <a:latin typeface="Segoe UI"/>
                <a:ea typeface="Microsoft YaHei"/>
              </a:rPr>
              <a:t>PLUG IN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886200" y="2432303"/>
            <a:ext cx="1828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500" b="0">
                <a:solidFill>
                  <a:srgbClr val="008C82"/>
                </a:solidFill>
                <a:latin typeface="Segoe UI"/>
                <a:ea typeface="Microsoft YaHei"/>
              </a:rPr>
              <a:t>→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4050791" y="2139696"/>
            <a:ext cx="1572768" cy="950976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0160">
            <a:solidFill>
              <a:srgbClr val="CCD3D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4160520" y="2313432"/>
            <a:ext cx="1353312" cy="30175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700" b="1">
                <a:solidFill>
                  <a:srgbClr val="002733"/>
                </a:solidFill>
                <a:latin typeface="Microsoft YaHei"/>
                <a:ea typeface="Microsoft YaHei"/>
              </a:rPr>
              <a:t>检测启动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123944" y="2706624"/>
            <a:ext cx="1426464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050" b="0">
                <a:solidFill>
                  <a:srgbClr val="4C6870"/>
                </a:solidFill>
                <a:latin typeface="Segoe UI"/>
                <a:ea typeface="Microsoft YaHei"/>
              </a:rPr>
              <a:t>CHECK &amp; START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502920" y="3364991"/>
            <a:ext cx="1572768" cy="950976"/>
          </a:xfrm>
          <a:prstGeom prst="roundRect">
            <a:avLst>
              <a:gd name="adj" fmla="val 12000"/>
            </a:avLst>
          </a:prstGeom>
          <a:solidFill>
            <a:srgbClr val="0027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12648" y="3538727"/>
            <a:ext cx="1353312" cy="30175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700" b="1">
                <a:solidFill>
                  <a:srgbClr val="FFFFFF"/>
                </a:solidFill>
                <a:latin typeface="Microsoft YaHei"/>
                <a:ea typeface="Microsoft YaHei"/>
              </a:rPr>
              <a:t>停止应答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76072" y="3931920"/>
            <a:ext cx="1426464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050" b="0">
                <a:solidFill>
                  <a:srgbClr val="99D1CD"/>
                </a:solidFill>
                <a:latin typeface="Segoe UI"/>
                <a:ea typeface="Microsoft YaHei"/>
              </a:rPr>
              <a:t>STOP ACK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2112264" y="3657599"/>
            <a:ext cx="1828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500" b="0">
                <a:solidFill>
                  <a:srgbClr val="008C82"/>
                </a:solidFill>
                <a:latin typeface="Segoe UI"/>
                <a:ea typeface="Microsoft YaHei"/>
              </a:rPr>
              <a:t>→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2276856" y="3364991"/>
            <a:ext cx="1572768" cy="950976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0160">
            <a:solidFill>
              <a:srgbClr val="CCD3D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2386584" y="3538727"/>
            <a:ext cx="1353312" cy="30175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700" b="1">
                <a:solidFill>
                  <a:srgbClr val="002733"/>
                </a:solidFill>
                <a:latin typeface="Microsoft YaHei"/>
                <a:ea typeface="Microsoft YaHei"/>
              </a:rPr>
              <a:t>拔枪归位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2350008" y="3931920"/>
            <a:ext cx="1426464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050" b="0">
                <a:solidFill>
                  <a:srgbClr val="4C6870"/>
                </a:solidFill>
                <a:latin typeface="Segoe UI"/>
                <a:ea typeface="Microsoft YaHei"/>
              </a:rPr>
              <a:t>UNPLUG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3886200" y="3657599"/>
            <a:ext cx="1828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500" b="0">
                <a:solidFill>
                  <a:srgbClr val="008C82"/>
                </a:solidFill>
                <a:latin typeface="Segoe UI"/>
                <a:ea typeface="Microsoft YaHei"/>
              </a:rPr>
              <a:t>→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4050791" y="3364991"/>
            <a:ext cx="1572768" cy="950976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0160">
            <a:solidFill>
              <a:srgbClr val="CCD3D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4160520" y="3538727"/>
            <a:ext cx="1353312" cy="30175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700" b="1">
                <a:solidFill>
                  <a:srgbClr val="002733"/>
                </a:solidFill>
                <a:latin typeface="Microsoft YaHei"/>
                <a:ea typeface="Microsoft YaHei"/>
              </a:rPr>
              <a:t>查看账单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4123944" y="3931920"/>
            <a:ext cx="1426464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050" b="0">
                <a:solidFill>
                  <a:srgbClr val="4C6870"/>
                </a:solidFill>
                <a:latin typeface="Segoe UI"/>
                <a:ea typeface="Microsoft YaHei"/>
              </a:rPr>
              <a:t>CHECK OUT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548640" y="5166360"/>
            <a:ext cx="5230368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800" b="1">
                <a:solidFill>
                  <a:srgbClr val="002733"/>
                </a:solidFill>
                <a:latin typeface="Microsoft YaHei"/>
                <a:ea typeface="Microsoft YaHei"/>
              </a:rPr>
              <a:t>功率 × 时间，目标电量封顶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548640" y="5559552"/>
            <a:ext cx="5230368" cy="4480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250" b="0">
                <a:solidFill>
                  <a:srgbClr val="4C6870"/>
                </a:solidFill>
                <a:latin typeface="Segoe UI"/>
                <a:ea typeface="Microsoft YaHei"/>
              </a:rPr>
              <a:t>kW × h → kWh, capped at the selected target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6300216" y="1869948"/>
            <a:ext cx="2039112" cy="4412847"/>
          </a:xfrm>
          <a:prstGeom prst="roundRect">
            <a:avLst>
              <a:gd name="adj" fmla="val 12000"/>
            </a:avLst>
          </a:prstGeom>
          <a:solidFill>
            <a:srgbClr val="DDE5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Rounded Rectangle 33"/>
          <p:cNvSpPr/>
          <p:nvPr/>
        </p:nvSpPr>
        <p:spPr>
          <a:xfrm>
            <a:off x="6228892" y="1794052"/>
            <a:ext cx="2072030" cy="4445765"/>
          </a:xfrm>
          <a:prstGeom prst="roundRect">
            <a:avLst>
              <a:gd name="adj" fmla="val 12000"/>
            </a:avLst>
          </a:prstGeom>
          <a:solidFill>
            <a:srgbClr val="CCD3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5" name="Picture 34" descr="mobile-plug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245352" y="1810512"/>
            <a:ext cx="2039112" cy="4412847"/>
          </a:xfrm>
          <a:prstGeom prst="rect">
            <a:avLst/>
          </a:prstGeom>
        </p:spPr>
      </p:pic>
      <p:sp>
        <p:nvSpPr>
          <p:cNvPr id="36" name="Rounded Rectangle 35"/>
          <p:cNvSpPr/>
          <p:nvPr/>
        </p:nvSpPr>
        <p:spPr>
          <a:xfrm>
            <a:off x="9235440" y="1869948"/>
            <a:ext cx="2039112" cy="4412847"/>
          </a:xfrm>
          <a:prstGeom prst="roundRect">
            <a:avLst>
              <a:gd name="adj" fmla="val 12000"/>
            </a:avLst>
          </a:prstGeom>
          <a:solidFill>
            <a:srgbClr val="DDE5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Rounded Rectangle 36"/>
          <p:cNvSpPr/>
          <p:nvPr/>
        </p:nvSpPr>
        <p:spPr>
          <a:xfrm>
            <a:off x="9164116" y="1794052"/>
            <a:ext cx="2072030" cy="4445765"/>
          </a:xfrm>
          <a:prstGeom prst="roundRect">
            <a:avLst>
              <a:gd name="adj" fmla="val 12000"/>
            </a:avLst>
          </a:prstGeom>
          <a:solidFill>
            <a:srgbClr val="CCD3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8" name="Picture 37" descr="mobile-unplug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180576" y="1810512"/>
            <a:ext cx="2039112" cy="4412847"/>
          </a:xfrm>
          <a:prstGeom prst="rect">
            <a:avLst/>
          </a:prstGeom>
        </p:spPr>
      </p:pic>
      <p:sp>
        <p:nvSpPr>
          <p:cNvPr id="39" name="TextBox 38"/>
          <p:cNvSpPr txBox="1"/>
          <p:nvPr/>
        </p:nvSpPr>
        <p:spPr>
          <a:xfrm>
            <a:off x="6035040" y="6245352"/>
            <a:ext cx="256032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>
                <a:solidFill>
                  <a:srgbClr val="4C6870"/>
                </a:solidFill>
                <a:latin typeface="Microsoft YaHei"/>
                <a:ea typeface="Microsoft YaHei"/>
              </a:rPr>
              <a:t>先接枪，再开始 / Plug before start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8961120" y="6245352"/>
            <a:ext cx="256032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>
                <a:solidFill>
                  <a:srgbClr val="4C6870"/>
                </a:solidFill>
                <a:latin typeface="Microsoft YaHei"/>
                <a:ea typeface="Microsoft YaHei"/>
              </a:rPr>
              <a:t>先停止，再拔枪 / Stop before unplug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7F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02920" y="329184"/>
            <a:ext cx="82296" cy="82296"/>
          </a:xfrm>
          <a:prstGeom prst="rect">
            <a:avLst/>
          </a:prstGeom>
          <a:solidFill>
            <a:srgbClr val="C2FE0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94944" y="256032"/>
            <a:ext cx="1078992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050" b="1">
                <a:solidFill>
                  <a:srgbClr val="4C6870"/>
                </a:solidFill>
                <a:latin typeface="Segoe UI"/>
                <a:ea typeface="Microsoft YaHei"/>
              </a:rPr>
              <a:t>08 / BILINGUAL &amp; RESPONSIVE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676656"/>
            <a:ext cx="11155680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2800" b="1">
                <a:solidFill>
                  <a:srgbClr val="002733"/>
                </a:solidFill>
                <a:latin typeface="Microsoft YaHei"/>
                <a:ea typeface="Microsoft YaHei"/>
              </a:rPr>
              <a:t>同一套体验，跨语言与屏幕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12064" y="1243584"/>
            <a:ext cx="1106424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500" b="0">
                <a:solidFill>
                  <a:srgbClr val="4C6870"/>
                </a:solidFill>
                <a:latin typeface="Segoe UI"/>
                <a:ea typeface="Microsoft YaHei"/>
              </a:rPr>
              <a:t>One experience — across languages and screens.</a:t>
            </a:r>
          </a:p>
        </p:txBody>
      </p:sp>
      <p:sp>
        <p:nvSpPr>
          <p:cNvPr id="6" name="Rectangle 5"/>
          <p:cNvSpPr/>
          <p:nvPr/>
        </p:nvSpPr>
        <p:spPr>
          <a:xfrm>
            <a:off x="502920" y="6473952"/>
            <a:ext cx="11173968" cy="8229"/>
          </a:xfrm>
          <a:prstGeom prst="rect">
            <a:avLst/>
          </a:prstGeom>
          <a:solidFill>
            <a:srgbClr val="CCD3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02920" y="6565392"/>
            <a:ext cx="10058400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800" b="0">
                <a:solidFill>
                  <a:srgbClr val="4C6870"/>
                </a:solidFill>
                <a:latin typeface="Segoe UI"/>
                <a:ea typeface="Microsoft YaHei"/>
              </a:rPr>
              <a:t>VWer-Charging  /  PROJECT OVERVIEW  /  中英双语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201400" y="6537960"/>
            <a:ext cx="45720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>
                <a:solidFill>
                  <a:srgbClr val="4C6870"/>
                </a:solidFill>
                <a:latin typeface="Segoe UI"/>
                <a:ea typeface="Microsoft YaHei"/>
              </a:rPr>
              <a:t>08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57784" y="1924812"/>
            <a:ext cx="6254496" cy="4343400"/>
          </a:xfrm>
          <a:prstGeom prst="roundRect">
            <a:avLst>
              <a:gd name="adj" fmla="val 12000"/>
            </a:avLst>
          </a:prstGeom>
          <a:solidFill>
            <a:srgbClr val="DDE5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486460" y="1848916"/>
            <a:ext cx="6287414" cy="4376318"/>
          </a:xfrm>
          <a:prstGeom prst="roundRect">
            <a:avLst>
              <a:gd name="adj" fmla="val 12000"/>
            </a:avLst>
          </a:prstGeom>
          <a:solidFill>
            <a:srgbClr val="CCD3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1" name="Picture 10" descr="english-detail-1440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1865376"/>
            <a:ext cx="6254496" cy="4343400"/>
          </a:xfrm>
          <a:prstGeom prst="rect">
            <a:avLst/>
          </a:prstGeom>
        </p:spPr>
      </p:pic>
      <p:sp>
        <p:nvSpPr>
          <p:cNvPr id="12" name="Rounded Rectangle 11"/>
          <p:cNvSpPr/>
          <p:nvPr/>
        </p:nvSpPr>
        <p:spPr>
          <a:xfrm>
            <a:off x="7370064" y="1924812"/>
            <a:ext cx="1874519" cy="4056653"/>
          </a:xfrm>
          <a:prstGeom prst="roundRect">
            <a:avLst>
              <a:gd name="adj" fmla="val 12000"/>
            </a:avLst>
          </a:prstGeom>
          <a:solidFill>
            <a:srgbClr val="DDE5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7298740" y="1848916"/>
            <a:ext cx="1907438" cy="4089571"/>
          </a:xfrm>
          <a:prstGeom prst="roundRect">
            <a:avLst>
              <a:gd name="adj" fmla="val 12000"/>
            </a:avLst>
          </a:prstGeom>
          <a:solidFill>
            <a:srgbClr val="CCD3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4" name="Picture 13" descr="mobile-english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315200" y="1865376"/>
            <a:ext cx="1874519" cy="4056653"/>
          </a:xfrm>
          <a:prstGeom prst="rect">
            <a:avLst/>
          </a:prstGeom>
        </p:spPr>
      </p:pic>
      <p:sp>
        <p:nvSpPr>
          <p:cNvPr id="15" name="Rounded Rectangle 14"/>
          <p:cNvSpPr/>
          <p:nvPr/>
        </p:nvSpPr>
        <p:spPr>
          <a:xfrm>
            <a:off x="9802368" y="1924812"/>
            <a:ext cx="1874519" cy="4056653"/>
          </a:xfrm>
          <a:prstGeom prst="roundRect">
            <a:avLst>
              <a:gd name="adj" fmla="val 12000"/>
            </a:avLst>
          </a:prstGeom>
          <a:solidFill>
            <a:srgbClr val="DDE5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ounded Rectangle 15"/>
          <p:cNvSpPr/>
          <p:nvPr/>
        </p:nvSpPr>
        <p:spPr>
          <a:xfrm>
            <a:off x="9731044" y="1848916"/>
            <a:ext cx="1907438" cy="4089571"/>
          </a:xfrm>
          <a:prstGeom prst="roundRect">
            <a:avLst>
              <a:gd name="adj" fmla="val 12000"/>
            </a:avLst>
          </a:prstGeom>
          <a:solidFill>
            <a:srgbClr val="CCD3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7" name="Picture 16" descr="mobile-charging-dark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747504" y="1865376"/>
            <a:ext cx="1874519" cy="4056653"/>
          </a:xfrm>
          <a:prstGeom prst="rect">
            <a:avLst/>
          </a:prstGeom>
        </p:spPr>
      </p:pic>
      <p:sp>
        <p:nvSpPr>
          <p:cNvPr id="18" name="TextBox 17"/>
          <p:cNvSpPr txBox="1"/>
          <p:nvPr/>
        </p:nvSpPr>
        <p:spPr>
          <a:xfrm>
            <a:off x="566928" y="6263640"/>
            <a:ext cx="4389120" cy="1920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>
                <a:solidFill>
                  <a:srgbClr val="4C6870"/>
                </a:solidFill>
                <a:latin typeface="Segoe UI"/>
                <a:ea typeface="Microsoft YaHei"/>
              </a:rPr>
              <a:t>桌面 / DESKTOP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223760" y="6062472"/>
            <a:ext cx="210312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200" b="0">
                <a:solidFill>
                  <a:srgbClr val="008C82"/>
                </a:solidFill>
                <a:latin typeface="Microsoft YaHei"/>
                <a:ea typeface="Microsoft YaHei"/>
              </a:rPr>
              <a:t>中文 ⇄ English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464040" y="6062472"/>
            <a:ext cx="246888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4C6870"/>
                </a:solidFill>
                <a:latin typeface="Microsoft YaHei"/>
                <a:ea typeface="Microsoft YaHei"/>
              </a:rPr>
              <a:t>明暗一致 / LIGHT &amp; DARK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7F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02920" y="329184"/>
            <a:ext cx="82296" cy="82296"/>
          </a:xfrm>
          <a:prstGeom prst="rect">
            <a:avLst/>
          </a:prstGeom>
          <a:solidFill>
            <a:srgbClr val="C2FE0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94944" y="256032"/>
            <a:ext cx="1078992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050" b="1">
                <a:solidFill>
                  <a:srgbClr val="4C6870"/>
                </a:solidFill>
                <a:latin typeface="Segoe UI"/>
                <a:ea typeface="Microsoft YaHei"/>
              </a:rPr>
              <a:t>09 / QUALITY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676656"/>
            <a:ext cx="11155680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2800" b="1">
                <a:solidFill>
                  <a:srgbClr val="002733"/>
                </a:solidFill>
                <a:latin typeface="Microsoft YaHei"/>
                <a:ea typeface="Microsoft YaHei"/>
              </a:rPr>
              <a:t>演示，也经得起验证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12064" y="1243584"/>
            <a:ext cx="1106424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500" b="0">
                <a:solidFill>
                  <a:srgbClr val="4C6870"/>
                </a:solidFill>
                <a:latin typeface="Segoe UI"/>
                <a:ea typeface="Microsoft YaHei"/>
              </a:rPr>
              <a:t>Built to demo. Tested to hold up.</a:t>
            </a:r>
          </a:p>
        </p:txBody>
      </p:sp>
      <p:sp>
        <p:nvSpPr>
          <p:cNvPr id="6" name="Rectangle 5"/>
          <p:cNvSpPr/>
          <p:nvPr/>
        </p:nvSpPr>
        <p:spPr>
          <a:xfrm>
            <a:off x="502920" y="6473952"/>
            <a:ext cx="11173968" cy="8229"/>
          </a:xfrm>
          <a:prstGeom prst="rect">
            <a:avLst/>
          </a:prstGeom>
          <a:solidFill>
            <a:srgbClr val="CCD3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02920" y="6565392"/>
            <a:ext cx="10058400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800" b="0">
                <a:solidFill>
                  <a:srgbClr val="4C6870"/>
                </a:solidFill>
                <a:latin typeface="Segoe UI"/>
                <a:ea typeface="Microsoft YaHei"/>
              </a:rPr>
              <a:t>VWer-Charging  /  PROJECT OVERVIEW  /  中英双语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201400" y="6537960"/>
            <a:ext cx="45720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>
                <a:solidFill>
                  <a:srgbClr val="4C6870"/>
                </a:solidFill>
                <a:latin typeface="Segoe UI"/>
                <a:ea typeface="Microsoft YaHei"/>
              </a:rPr>
              <a:t>09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02920" y="1938528"/>
            <a:ext cx="2560320" cy="2487168"/>
          </a:xfrm>
          <a:prstGeom prst="roundRect">
            <a:avLst>
              <a:gd name="adj" fmla="val 12000"/>
            </a:avLst>
          </a:prstGeom>
          <a:solidFill>
            <a:srgbClr val="0027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13232" y="2258568"/>
            <a:ext cx="2194560" cy="80467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4500" b="1">
                <a:solidFill>
                  <a:srgbClr val="C2FE06"/>
                </a:solidFill>
                <a:latin typeface="Segoe UI"/>
                <a:ea typeface="Microsoft YaHei"/>
              </a:rPr>
              <a:t>427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13232" y="3346704"/>
            <a:ext cx="2130552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700" b="1">
                <a:solidFill>
                  <a:srgbClr val="FFFFFF"/>
                </a:solidFill>
                <a:latin typeface="Microsoft YaHei"/>
                <a:ea typeface="Microsoft YaHei"/>
              </a:rPr>
              <a:t>单元与组件测试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13232" y="3739896"/>
            <a:ext cx="2130552" cy="4480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250" b="0">
                <a:solidFill>
                  <a:srgbClr val="99D1CD"/>
                </a:solidFill>
                <a:latin typeface="Segoe UI"/>
                <a:ea typeface="Microsoft YaHei"/>
              </a:rPr>
              <a:t>Unit &amp; component tests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3374136" y="1938528"/>
            <a:ext cx="2560320" cy="2487168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0160">
            <a:solidFill>
              <a:srgbClr val="CCD3D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3584448" y="2258568"/>
            <a:ext cx="2194560" cy="80467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4500" b="1">
                <a:solidFill>
                  <a:srgbClr val="008C82"/>
                </a:solidFill>
                <a:latin typeface="Segoe UI"/>
                <a:ea typeface="Microsoft YaHei"/>
              </a:rPr>
              <a:t>8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584448" y="3346704"/>
            <a:ext cx="2130552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700" b="1">
                <a:solidFill>
                  <a:srgbClr val="002733"/>
                </a:solidFill>
                <a:latin typeface="Microsoft YaHei"/>
                <a:ea typeface="Microsoft YaHei"/>
              </a:rPr>
              <a:t>浏览器回归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584448" y="3739896"/>
            <a:ext cx="2130552" cy="4480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250" b="0">
                <a:solidFill>
                  <a:srgbClr val="4C6870"/>
                </a:solidFill>
                <a:latin typeface="Segoe UI"/>
                <a:ea typeface="Microsoft YaHei"/>
              </a:rPr>
              <a:t>Browser regression flows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245352" y="1938528"/>
            <a:ext cx="2560320" cy="2487168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0160">
            <a:solidFill>
              <a:srgbClr val="CCD3D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455664" y="2258568"/>
            <a:ext cx="2194560" cy="80467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4500" b="1">
                <a:solidFill>
                  <a:srgbClr val="008C82"/>
                </a:solidFill>
                <a:latin typeface="Segoe UI"/>
                <a:ea typeface="Microsoft YaHei"/>
              </a:rPr>
              <a:t>2,000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455664" y="3346704"/>
            <a:ext cx="2130552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700" b="1">
                <a:solidFill>
                  <a:srgbClr val="002733"/>
                </a:solidFill>
                <a:latin typeface="Microsoft YaHei"/>
                <a:ea typeface="Microsoft YaHei"/>
              </a:rPr>
              <a:t>站点契约校验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455664" y="3739896"/>
            <a:ext cx="2130552" cy="4480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250" b="0">
                <a:solidFill>
                  <a:srgbClr val="4C6870"/>
                </a:solidFill>
                <a:latin typeface="Segoe UI"/>
                <a:ea typeface="Microsoft YaHei"/>
              </a:rPr>
              <a:t>Validated demo stations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9116568" y="1938528"/>
            <a:ext cx="2560320" cy="2487168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0160">
            <a:solidFill>
              <a:srgbClr val="CCD3D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9326880" y="2258568"/>
            <a:ext cx="2194560" cy="80467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4500" b="1">
                <a:solidFill>
                  <a:srgbClr val="008C82"/>
                </a:solidFill>
                <a:latin typeface="Segoe UI"/>
                <a:ea typeface="Microsoft YaHei"/>
              </a:rPr>
              <a:t>0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9326880" y="3346704"/>
            <a:ext cx="2130552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700" b="1">
                <a:solidFill>
                  <a:srgbClr val="002733"/>
                </a:solidFill>
                <a:latin typeface="Microsoft YaHei"/>
                <a:ea typeface="Microsoft YaHei"/>
              </a:rPr>
              <a:t>依赖审计告警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9326880" y="3739896"/>
            <a:ext cx="2130552" cy="4480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250" b="0">
                <a:solidFill>
                  <a:srgbClr val="4C6870"/>
                </a:solidFill>
                <a:latin typeface="Segoe UI"/>
                <a:ea typeface="Microsoft YaHei"/>
              </a:rPr>
              <a:t>Known npm audit findings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530352" y="4864608"/>
            <a:ext cx="1088136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>
                <a:solidFill>
                  <a:srgbClr val="4C6870"/>
                </a:solidFill>
                <a:latin typeface="Segoe UI"/>
                <a:ea typeface="Microsoft YaHei"/>
              </a:rPr>
              <a:t>本轮修复 / FIXED IN THIS REVIEW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548640" y="5404104"/>
            <a:ext cx="347472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900" b="1">
                <a:solidFill>
                  <a:srgbClr val="002733"/>
                </a:solidFill>
                <a:latin typeface="Microsoft YaHei"/>
                <a:ea typeface="Microsoft YaHei"/>
              </a:rPr>
              <a:t>目标电量封顶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548640" y="5797296"/>
            <a:ext cx="3474720" cy="4480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250" b="0">
                <a:solidFill>
                  <a:srgbClr val="4C6870"/>
                </a:solidFill>
                <a:latin typeface="Segoe UI"/>
                <a:ea typeface="Microsoft YaHei"/>
              </a:rPr>
              <a:t>Target-limited metering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4416552" y="5404104"/>
            <a:ext cx="347472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900" b="1">
                <a:solidFill>
                  <a:srgbClr val="002733"/>
                </a:solidFill>
                <a:latin typeface="Microsoft YaHei"/>
                <a:ea typeface="Microsoft YaHei"/>
              </a:rPr>
              <a:t>预约兼容复核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4416552" y="5797296"/>
            <a:ext cx="3474720" cy="4480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250" b="0">
                <a:solidFill>
                  <a:srgbClr val="4C6870"/>
                </a:solidFill>
                <a:latin typeface="Segoe UI"/>
                <a:ea typeface="Microsoft YaHei"/>
              </a:rPr>
              <a:t>Booking compatibility checks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8229600" y="5404104"/>
            <a:ext cx="347472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900" b="1">
                <a:solidFill>
                  <a:srgbClr val="002733"/>
                </a:solidFill>
                <a:latin typeface="Microsoft YaHei"/>
                <a:ea typeface="Microsoft YaHei"/>
              </a:rPr>
              <a:t>地图标记复用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8229600" y="5797296"/>
            <a:ext cx="3474720" cy="4480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250" b="0">
                <a:solidFill>
                  <a:srgbClr val="4C6870"/>
                </a:solidFill>
                <a:latin typeface="Segoe UI"/>
                <a:ea typeface="Microsoft YaHei"/>
              </a:rPr>
              <a:t>Correct marker lifecycle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2733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02920" y="329184"/>
            <a:ext cx="82296" cy="82296"/>
          </a:xfrm>
          <a:prstGeom prst="rect">
            <a:avLst/>
          </a:prstGeom>
          <a:solidFill>
            <a:srgbClr val="C2FE0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94944" y="256032"/>
            <a:ext cx="1078992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050" b="1">
                <a:solidFill>
                  <a:srgbClr val="99D1CD"/>
                </a:solidFill>
                <a:latin typeface="Segoe UI"/>
                <a:ea typeface="Microsoft YaHei"/>
              </a:rPr>
              <a:t>10 / TRY THE DEMO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676656"/>
            <a:ext cx="11155680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2800" b="1">
                <a:solidFill>
                  <a:srgbClr val="FFFFFF"/>
                </a:solidFill>
                <a:latin typeface="Microsoft YaHei"/>
                <a:ea typeface="Microsoft YaHei"/>
              </a:rPr>
              <a:t/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12064" y="1243584"/>
            <a:ext cx="1106424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500" b="0">
                <a:solidFill>
                  <a:srgbClr val="99D1CD"/>
                </a:solidFill>
                <a:latin typeface="Segoe UI"/>
                <a:ea typeface="Microsoft YaHei"/>
              </a:rPr>
              <a:t/>
            </a:r>
          </a:p>
        </p:txBody>
      </p:sp>
      <p:sp>
        <p:nvSpPr>
          <p:cNvPr id="6" name="Rectangle 5"/>
          <p:cNvSpPr/>
          <p:nvPr/>
        </p:nvSpPr>
        <p:spPr>
          <a:xfrm>
            <a:off x="502920" y="6473952"/>
            <a:ext cx="11173968" cy="8229"/>
          </a:xfrm>
          <a:prstGeom prst="rect">
            <a:avLst/>
          </a:prstGeom>
          <a:solidFill>
            <a:srgbClr val="3354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02920" y="6565392"/>
            <a:ext cx="10058400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800" b="0">
                <a:solidFill>
                  <a:srgbClr val="99D1CD"/>
                </a:solidFill>
                <a:latin typeface="Segoe UI"/>
                <a:ea typeface="Microsoft YaHei"/>
              </a:rPr>
              <a:t>VWer-Charging  /  PROJECT OVERVIEW  /  中英双语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201400" y="6537960"/>
            <a:ext cx="45720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>
                <a:solidFill>
                  <a:srgbClr val="99D1CD"/>
                </a:solidFill>
                <a:latin typeface="Segoe UI"/>
                <a:ea typeface="Microsoft YaHei"/>
              </a:rPr>
              <a:t>10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1325880"/>
            <a:ext cx="11064240" cy="7315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3400" b="1">
                <a:solidFill>
                  <a:srgbClr val="FFFFFF"/>
                </a:solidFill>
                <a:latin typeface="Microsoft YaHei"/>
                <a:ea typeface="Microsoft YaHei"/>
              </a:rPr>
              <a:t>可讲解。可演示。可扩展。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76072" y="2231136"/>
            <a:ext cx="10789920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2500" b="0">
                <a:solidFill>
                  <a:srgbClr val="99D1CD"/>
                </a:solidFill>
                <a:latin typeface="Segoe UI"/>
                <a:ea typeface="Microsoft YaHei"/>
              </a:rPr>
              <a:t>Explain it. Demo it. Build on it.</a:t>
            </a:r>
          </a:p>
        </p:txBody>
      </p:sp>
      <p:sp>
        <p:nvSpPr>
          <p:cNvPr id="11" name="Rectangle 10"/>
          <p:cNvSpPr/>
          <p:nvPr/>
        </p:nvSpPr>
        <p:spPr>
          <a:xfrm>
            <a:off x="576072" y="3328416"/>
            <a:ext cx="73152" cy="566928"/>
          </a:xfrm>
          <a:prstGeom prst="rect">
            <a:avLst/>
          </a:prstGeom>
          <a:solidFill>
            <a:srgbClr val="C2FE0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04672" y="3264408"/>
            <a:ext cx="329184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2000" b="1">
                <a:solidFill>
                  <a:srgbClr val="FFFFFF"/>
                </a:solidFill>
                <a:latin typeface="Microsoft YaHei"/>
                <a:ea typeface="Microsoft YaHei"/>
              </a:rPr>
              <a:t>有设计的数据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04672" y="3657600"/>
            <a:ext cx="3291840" cy="4480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250" b="0">
                <a:solidFill>
                  <a:srgbClr val="99D1CD"/>
                </a:solidFill>
                <a:latin typeface="Segoe UI"/>
                <a:ea typeface="Microsoft YaHei"/>
              </a:rPr>
              <a:t>DESIGNED DATA</a:t>
            </a:r>
          </a:p>
        </p:txBody>
      </p:sp>
      <p:sp>
        <p:nvSpPr>
          <p:cNvPr id="14" name="Rectangle 13"/>
          <p:cNvSpPr/>
          <p:nvPr/>
        </p:nvSpPr>
        <p:spPr>
          <a:xfrm>
            <a:off x="4453128" y="3328416"/>
            <a:ext cx="73152" cy="566928"/>
          </a:xfrm>
          <a:prstGeom prst="rect">
            <a:avLst/>
          </a:prstGeom>
          <a:solidFill>
            <a:srgbClr val="C2FE0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681728" y="3264408"/>
            <a:ext cx="329184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2000" b="1">
                <a:solidFill>
                  <a:srgbClr val="FFFFFF"/>
                </a:solidFill>
                <a:latin typeface="Microsoft YaHei"/>
                <a:ea typeface="Microsoft YaHei"/>
              </a:rPr>
              <a:t>轻量双色地图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681728" y="3657600"/>
            <a:ext cx="3291840" cy="4480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250" b="0">
                <a:solidFill>
                  <a:srgbClr val="99D1CD"/>
                </a:solidFill>
                <a:latin typeface="Segoe UI"/>
                <a:ea typeface="Microsoft YaHei"/>
              </a:rPr>
              <a:t>ONE MAP, TWO THEMES</a:t>
            </a:r>
          </a:p>
        </p:txBody>
      </p:sp>
      <p:sp>
        <p:nvSpPr>
          <p:cNvPr id="17" name="Rectangle 16"/>
          <p:cNvSpPr/>
          <p:nvPr/>
        </p:nvSpPr>
        <p:spPr>
          <a:xfrm>
            <a:off x="8229600" y="3328416"/>
            <a:ext cx="73152" cy="566928"/>
          </a:xfrm>
          <a:prstGeom prst="rect">
            <a:avLst/>
          </a:prstGeom>
          <a:solidFill>
            <a:srgbClr val="C2FE0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458200" y="3264408"/>
            <a:ext cx="329184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2000" b="1">
                <a:solidFill>
                  <a:srgbClr val="FFFFFF"/>
                </a:solidFill>
                <a:latin typeface="Microsoft YaHei"/>
                <a:ea typeface="Microsoft YaHei"/>
              </a:rPr>
              <a:t>连贯充电闭环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458200" y="3657600"/>
            <a:ext cx="3291840" cy="4480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250" b="0">
                <a:solidFill>
                  <a:srgbClr val="99D1CD"/>
                </a:solidFill>
                <a:latin typeface="Segoe UI"/>
                <a:ea typeface="Microsoft YaHei"/>
              </a:rPr>
              <a:t>CONNECTED JOURNEY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576072" y="4599432"/>
            <a:ext cx="3703320" cy="576072"/>
          </a:xfrm>
          <a:prstGeom prst="roundRect">
            <a:avLst>
              <a:gd name="adj" fmla="val 12000"/>
            </a:avLst>
          </a:prstGeom>
          <a:solidFill>
            <a:srgbClr val="C2FE0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>
            <a:hlinkClick r:id="rId2"/>
          </p:cNvPr>
          <p:cNvSpPr txBox="1"/>
          <p:nvPr/>
        </p:nvSpPr>
        <p:spPr>
          <a:xfrm>
            <a:off x="768096" y="4745736"/>
            <a:ext cx="3328416" cy="28346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500" b="1">
                <a:solidFill>
                  <a:srgbClr val="002733"/>
                </a:solidFill>
                <a:latin typeface="Microsoft YaHei"/>
                <a:ea typeface="Microsoft YaHei"/>
              </a:rPr>
              <a:t>打开演示 / OPEN LIVE DEMO  ↗</a:t>
            </a:r>
          </a:p>
        </p:txBody>
      </p:sp>
      <p:sp>
        <p:nvSpPr>
          <p:cNvPr id="22" name="TextBox 21">
            <a:hlinkClick r:id="rId2"/>
          </p:cNvPr>
          <p:cNvSpPr txBox="1"/>
          <p:nvPr/>
        </p:nvSpPr>
        <p:spPr>
          <a:xfrm>
            <a:off x="594360" y="5449824"/>
            <a:ext cx="10881360" cy="3383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2100" b="0">
                <a:solidFill>
                  <a:srgbClr val="FFFFFF"/>
                </a:solidFill>
                <a:latin typeface="Segoe UI"/>
                <a:ea typeface="Microsoft YaHei"/>
              </a:rPr>
              <a:t>https://mavorx.github.io/ChargingMap/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94360" y="6016752"/>
            <a:ext cx="10972800" cy="24688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99D1CD"/>
                </a:solidFill>
                <a:latin typeface="Microsoft YaHei"/>
                <a:ea typeface="Microsoft YaHei"/>
              </a:rPr>
              <a:t>模拟站点与交易，不接入真实设备。 / Simulated stations &amp; transactions. No live charger control.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VWer-Charging | 项目介绍 / Project Overview</dc:title>
  <dc:subject>Designed synthetic data, dual-theme maps, and a connected charging demo</dc:subject>
  <dc:creator>ChargingMap</dc:creator>
  <cp:keywords>ChargingMap, EV, Vue, AMap, bilingual, synthetic data</cp:keywords>
  <dc:description>Editable bilingual presentation. All stations and transactions are simulated.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